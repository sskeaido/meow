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来源等级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0AD47"/>
              </a:solidFill>
              <a:effectLst/>
            </c:spPr>
          </c:dPt>
          <c:dPt>
            <c:idx val="1"/>
            <c:bubble3D val="0"/>
            <c:spPr>
              <a:solidFill>
                <a:srgbClr val="2F75B5"/>
              </a:solidFill>
              <a:effectLst/>
            </c:spPr>
          </c:dPt>
          <c:dPt>
            <c:idx val="2"/>
            <c:bubble3D val="0"/>
            <c:spPr>
              <a:solidFill>
                <a:srgbClr val="FFC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A级</c:v>
                </c:pt>
                <c:pt idx="1">
                  <c:v>B级</c:v>
                </c:pt>
                <c:pt idx="2">
                  <c:v>C级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26</c:v>
                </c:pt>
                <c:pt idx="1">
                  <c:v>14</c:v>
                </c:pt>
                <c:pt idx="2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关键指标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中国安装量占比</c:v>
                  </c:pt>
                  <c:pt idx="1">
                    <c:v>国产厂商份额</c:v>
                  </c:pt>
                  <c:pt idx="2">
                    <c:v>工业机器人产量增速</c:v>
                  </c:pt>
                  <c:pt idx="3">
                    <c:v>机器人减速器产量增速</c:v>
                  </c:pt>
                  <c:pt idx="4">
                    <c:v>工控计算机系统增速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</c:v>
                </c:pt>
                <c:pt idx="1">
                  <c:v>57</c:v>
                </c:pt>
                <c:pt idx="2">
                  <c:v>28</c:v>
                </c:pt>
                <c:pt idx="3">
                  <c:v>63.9</c:v>
                </c:pt>
                <c:pt idx="4">
                  <c:v>86.5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2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汇川技术</c:v>
                </c:pt>
              </c:strCache>
            </c:strRef>
          </c:tx>
          <c:spPr>
            <a:solidFill>
              <a:srgbClr val="1F4E79"/>
            </a:solidFill>
            <a:ln w="2794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179.4</c:v>
                </c:pt>
                <c:pt idx="1">
                  <c:v>230.1</c:v>
                </c:pt>
                <c:pt idx="2">
                  <c:v>304.2</c:v>
                </c:pt>
                <c:pt idx="3">
                  <c:v>370.4</c:v>
                </c:pt>
                <c:pt idx="4">
                  <c:v>451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埃斯顿</c:v>
                </c:pt>
              </c:strCache>
            </c:strRef>
          </c:tx>
          <c:spPr>
            <a:solidFill>
              <a:srgbClr val="ED7D31"/>
            </a:solidFill>
            <a:ln w="2794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30.2</c:v>
                </c:pt>
                <c:pt idx="1">
                  <c:v>38.8</c:v>
                </c:pt>
                <c:pt idx="2">
                  <c:v>46.5</c:v>
                </c:pt>
                <c:pt idx="3">
                  <c:v>40.1</c:v>
                </c:pt>
                <c:pt idx="4">
                  <c:v>48.9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中控技术</c:v>
                </c:pt>
              </c:strCache>
            </c:strRef>
          </c:tx>
          <c:spPr>
            <a:solidFill>
              <a:srgbClr val="0F6B78"/>
            </a:solidFill>
            <a:ln w="27940" cap="flat">
              <a:solidFill>
                <a:srgbClr val="0F6B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B78"/>
              </a:solidFill>
              <a:ln w="9525" cap="flat">
                <a:solidFill>
                  <a:srgbClr val="0F6B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45.2</c:v>
                </c:pt>
                <c:pt idx="1">
                  <c:v>66.2</c:v>
                </c:pt>
                <c:pt idx="2">
                  <c:v>86.2</c:v>
                </c:pt>
                <c:pt idx="3">
                  <c:v>91.4</c:v>
                </c:pt>
                <c:pt idx="4">
                  <c:v>80.7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绿的谐波</c:v>
                </c:pt>
              </c:strCache>
            </c:strRef>
          </c:tx>
          <c:spPr>
            <a:solidFill>
              <a:srgbClr val="70AD47"/>
            </a:solidFill>
            <a:ln w="2794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4.4</c:v>
                </c:pt>
                <c:pt idx="1">
                  <c:v>4.5</c:v>
                </c:pt>
                <c:pt idx="2">
                  <c:v>3.6</c:v>
                </c:pt>
                <c:pt idx="3">
                  <c:v>3.9</c:v>
                </c:pt>
                <c:pt idx="4">
                  <c:v>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汇川技术</c:v>
                </c:pt>
              </c:strCache>
            </c:strRef>
          </c:tx>
          <c:spPr>
            <a:solidFill>
              <a:srgbClr val="1F4E79"/>
            </a:solidFill>
            <a:ln w="2794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19.9</c:v>
                </c:pt>
                <c:pt idx="1">
                  <c:v>18.8</c:v>
                </c:pt>
                <c:pt idx="2">
                  <c:v>15.6</c:v>
                </c:pt>
                <c:pt idx="3">
                  <c:v>11.6</c:v>
                </c:pt>
                <c:pt idx="4">
                  <c:v>11.2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埃斯顿</c:v>
                </c:pt>
              </c:strCache>
            </c:strRef>
          </c:tx>
          <c:spPr>
            <a:solidFill>
              <a:srgbClr val="ED7D31"/>
            </a:solidFill>
            <a:ln w="27940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4.3</c:v>
                </c:pt>
                <c:pt idx="2">
                  <c:v>2.9</c:v>
                </c:pt>
                <c:pt idx="3">
                  <c:v>-20.2</c:v>
                </c:pt>
                <c:pt idx="4">
                  <c:v>0.9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中控技术</c:v>
                </c:pt>
              </c:strCache>
            </c:strRef>
          </c:tx>
          <c:spPr>
            <a:solidFill>
              <a:srgbClr val="0F6B78"/>
            </a:solidFill>
            <a:ln w="27940" cap="flat">
              <a:solidFill>
                <a:srgbClr val="0F6B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B78"/>
              </a:solidFill>
              <a:ln w="9525" cap="flat">
                <a:solidFill>
                  <a:srgbClr val="0F6B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12.9</c:v>
                </c:pt>
                <c:pt idx="1">
                  <c:v>12</c:v>
                </c:pt>
                <c:pt idx="2">
                  <c:v>12.8</c:v>
                </c:pt>
                <c:pt idx="3">
                  <c:v>12.2</c:v>
                </c:pt>
                <c:pt idx="4">
                  <c:v>5.5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绿的谐波</c:v>
                </c:pt>
              </c:strCache>
            </c:strRef>
          </c:tx>
          <c:spPr>
            <a:solidFill>
              <a:srgbClr val="70AD47"/>
            </a:solidFill>
            <a:ln w="2794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42.7</c:v>
                </c:pt>
                <c:pt idx="1">
                  <c:v>34.8</c:v>
                </c:pt>
                <c:pt idx="2">
                  <c:v>23.6</c:v>
                </c:pt>
                <c:pt idx="3">
                  <c:v>14.5</c:v>
                </c:pt>
                <c:pt idx="4">
                  <c:v>21.8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-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Noto Sans CJK SC"/>
              <a:cs typeface="Noto Sans CJK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2025净利率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70" u="none">
                    <a:solidFill>
                      <a:srgbClr val="00000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绿的谐波</c:v>
                  </c:pt>
                  <c:pt idx="1">
                    <c:v>信捷电气</c:v>
                  </c:pt>
                  <c:pt idx="2">
                    <c:v>雷赛智能</c:v>
                  </c:pt>
                  <c:pt idx="3">
                    <c:v>汇川技术</c:v>
                  </c:pt>
                  <c:pt idx="4">
                    <c:v>中控技术</c:v>
                  </c:pt>
                  <c:pt idx="5">
                    <c:v>英威腾</c:v>
                  </c:pt>
                  <c:pt idx="6">
                    <c:v>拓斯达</c:v>
                  </c:pt>
                  <c:pt idx="7">
                    <c:v>埃斯顿</c:v>
                  </c:pt>
                  <c:pt idx="8">
                    <c:v>新时达</c:v>
                  </c:pt>
                  <c:pt idx="9">
                    <c:v>新松机器人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21.79</c:v>
                </c:pt>
                <c:pt idx="1">
                  <c:v>12.61</c:v>
                </c:pt>
                <c:pt idx="2">
                  <c:v>12.01</c:v>
                </c:pt>
                <c:pt idx="3">
                  <c:v>11.2</c:v>
                </c:pt>
                <c:pt idx="4">
                  <c:v>5.47</c:v>
                </c:pt>
                <c:pt idx="5">
                  <c:v>4.66</c:v>
                </c:pt>
                <c:pt idx="6">
                  <c:v>2.94</c:v>
                </c:pt>
                <c:pt idx="7">
                  <c:v>0.92</c:v>
                </c:pt>
                <c:pt idx="8">
                  <c:v>0.16</c:v>
                </c:pt>
                <c:pt idx="9">
                  <c:v>-9.66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70" u="none">
                  <a:solidFill>
                    <a:srgbClr val="00000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3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-1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案例数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质检/视觉</c:v>
                  </c:pt>
                  <c:pt idx="1">
                    <c:v>设备运维</c:v>
                  </c:pt>
                  <c:pt idx="2">
                    <c:v>生产运营</c:v>
                  </c:pt>
                  <c:pt idx="3">
                    <c:v>工艺优化</c:v>
                  </c:pt>
                  <c:pt idx="4">
                    <c:v>辅助决策</c:v>
                  </c:pt>
                  <c:pt idx="5">
                    <c:v>知识助手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综合分</c:v>
                </c:pt>
              </c:strCache>
            </c:strRef>
          </c:tx>
          <c:spPr>
            <a:solidFill>
              <a:srgbClr val="0F6B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40" u="none">
                    <a:solidFill>
                      <a:srgbClr val="000000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客户需求自动提取</c:v>
                  </c:pt>
                  <c:pt idx="1">
                    <c:v>售后知识助手</c:v>
                  </c:pt>
                  <c:pt idx="2">
                    <c:v>会议纪要写回CRM</c:v>
                  </c:pt>
                  <c:pt idx="3">
                    <c:v>历史方案智能检索</c:v>
                  </c:pt>
                  <c:pt idx="4">
                    <c:v>售前方案辅助生成</c:v>
                  </c:pt>
                  <c:pt idx="5">
                    <c:v>视觉质检</c:v>
                  </c:pt>
                  <c:pt idx="6">
                    <c:v>投标文件助手</c:v>
                  </c:pt>
                  <c:pt idx="7">
                    <c:v>报价/BOM异常检查</c:v>
                  </c:pt>
                  <c:pt idx="8">
                    <c:v>预测性维护</c:v>
                  </c:pt>
                  <c:pt idx="9">
                    <c:v>生产排程优化</c:v>
                  </c:pt>
                  <c:pt idx="10">
                    <c:v>工艺参数优化</c:v>
                  </c:pt>
                  <c:pt idx="11">
                    <c:v>自主闭环控制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4.85</c:v>
                </c:pt>
                <c:pt idx="1">
                  <c:v>4.85</c:v>
                </c:pt>
                <c:pt idx="2">
                  <c:v>4.7</c:v>
                </c:pt>
                <c:pt idx="3">
                  <c:v>4.7</c:v>
                </c:pt>
                <c:pt idx="4">
                  <c:v>4.5</c:v>
                </c:pt>
                <c:pt idx="5">
                  <c:v>4.3</c:v>
                </c:pt>
                <c:pt idx="6">
                  <c:v>4.25</c:v>
                </c:pt>
                <c:pt idx="7">
                  <c:v>4.15</c:v>
                </c:pt>
                <c:pt idx="8">
                  <c:v>3.95</c:v>
                </c:pt>
                <c:pt idx="9">
                  <c:v>3.95</c:v>
                </c:pt>
                <c:pt idx="10">
                  <c:v>3.6</c:v>
                </c:pt>
                <c:pt idx="11">
                  <c:v>3.05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40" u="none">
                  <a:solidFill>
                    <a:srgbClr val="000000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1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4233672" cy="6858000"/>
          </a:xfrm>
          <a:prstGeom prst="rect">
            <a:avLst/>
          </a:prstGeom>
          <a:solidFill>
            <a:srgbClr val="0F6B78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932688"/>
            <a:ext cx="0" cy="4983480"/>
          </a:xfrm>
          <a:prstGeom prst="line">
            <a:avLst/>
          </a:prstGeom>
          <a:noFill/>
          <a:ln w="31750">
            <a:solidFill>
              <a:srgbClr val="0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9611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DE4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行业研究作品集｜公开信息版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96112" y="1417320"/>
            <a:ext cx="65836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中国工业自动化与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工业机器人行业研究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32688" y="290779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AF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产业链、竞争格局、利润分化及AI应用机会分析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32688" y="3447288"/>
            <a:ext cx="4846320" cy="0"/>
          </a:xfrm>
          <a:prstGeom prst="line">
            <a:avLst/>
          </a:prstGeom>
          <a:noFill/>
          <a:ln w="7620">
            <a:solidFill>
              <a:srgbClr val="8DB4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36941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D4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研究对象：工业自动化设备、控制系统、机器人本体、系统集成与工业AI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D4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数据基础：50项公开来源、10家企业对标、14个客户侧案例、30个官方工业AI案例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30768" y="1325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FEC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430768" y="1581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全球最大需求中心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30768" y="2103120"/>
            <a:ext cx="2377440" cy="0"/>
          </a:xfrm>
          <a:prstGeom prst="line">
            <a:avLst/>
          </a:prstGeom>
          <a:noFill/>
          <a:ln w="7620">
            <a:solidFill>
              <a:srgbClr val="8DB4E2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2468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FEC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CHAIN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430768" y="2724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价值分配与定价权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30768" y="3246120"/>
            <a:ext cx="2377440" cy="0"/>
          </a:xfrm>
          <a:prstGeom prst="line">
            <a:avLst/>
          </a:prstGeom>
          <a:noFill/>
          <a:ln w="7620">
            <a:solidFill>
              <a:srgbClr val="8DB4E2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BFECE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430768" y="3867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高频可审场景先行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57232" y="61447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7D4E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2026.07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EXECUTIVE SUMMARY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规模增长明确，但利润分化与AI落地节奏更值得关注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本页给出作品集需要“先讲结论”的三层判断。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中国安装量</a:t>
            </a:r>
            <a:endParaRPr lang="en-US" sz="740" dirty="0"/>
          </a:p>
        </p:txBody>
      </p:sp>
      <p:sp>
        <p:nvSpPr>
          <p:cNvPr id="8" name="Text 6"/>
          <p:cNvSpPr/>
          <p:nvPr/>
        </p:nvSpPr>
        <p:spPr>
          <a:xfrm>
            <a:off x="566928" y="1719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29.5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1892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万台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66928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2024，占全球54%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国产厂商份额</a:t>
            </a:r>
            <a:endParaRPr lang="en-US" sz="740" dirty="0"/>
          </a:p>
        </p:txBody>
      </p:sp>
      <p:sp>
        <p:nvSpPr>
          <p:cNvPr id="12" name="Text 10"/>
          <p:cNvSpPr/>
          <p:nvPr/>
        </p:nvSpPr>
        <p:spPr>
          <a:xfrm>
            <a:off x="2468880" y="1719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57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39312" y="1892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68880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2024，首次超过外资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4352544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工业机器人产量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4352544" y="1719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+28.0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22976" y="1892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352544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2025同比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6291072" y="14630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机器人减速器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6291072" y="17190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+63.9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61504" y="1892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91072" y="21579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2025同比</a:t>
            </a:r>
            <a:endParaRPr lang="en-US" sz="660" dirty="0"/>
          </a:p>
        </p:txBody>
      </p:sp>
      <p:sp>
        <p:nvSpPr>
          <p:cNvPr id="23" name="Text 21"/>
          <p:cNvSpPr/>
          <p:nvPr/>
        </p:nvSpPr>
        <p:spPr>
          <a:xfrm>
            <a:off x="566928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市场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874520" y="280720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中国已成为全球工业机器人需求与存量中心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机会不只来自总量扩容，也来自国产替代、产品升级和软件化服务。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66928" y="3520440"/>
            <a:ext cx="106527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685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利润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74520" y="367588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行业增长不等于所有企业都赚钱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080760" y="370332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核心部件和规模化控制产品盈利更稳，项目型系统集成更易受交付和回款影响。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566928" y="4389120"/>
            <a:ext cx="106527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5537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AI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74520" y="4544568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短期应选择高频、资料已有、可人工复核的AI场景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6080760" y="45720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需求理解、方案检索、售后知识和文档审查，比闭环控制更适合做首批试点。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66928" y="5715000"/>
            <a:ext cx="10607040" cy="384048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研究边界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核心结论基于IFR、国家统计局、工信系统公开案例、上市公司年报等公开资料；PPT中“推断”会保留限定语。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来源：S01、S02、S03、S06—S15；完整来源见研究底稿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RESEARCH APPROACH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通过多源证据链降低“只会堆资料”的风险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作品集重点不是引用数量，而是每个结论能否被不同来源交叉支持。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810512" y="2048256"/>
            <a:ext cx="1847088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30752" y="2048256"/>
            <a:ext cx="1847088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50992" y="2048256"/>
            <a:ext cx="1847088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571232" y="2048256"/>
            <a:ext cx="1847088" cy="0"/>
          </a:xfrm>
          <a:prstGeom prst="line">
            <a:avLst/>
          </a:prstGeom>
          <a:noFill/>
          <a:ln w="12700">
            <a:solidFill>
              <a:srgbClr val="AAB7C4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21792" y="16276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50项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公开来源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2542032" y="16276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企业对标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462272" y="16276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0AD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6227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五年趋势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6382512" y="16276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客户侧案例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8302752" y="16276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30个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02752" y="2039112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AI案例</a:t>
            </a:r>
            <a:endParaRPr lang="en-US" sz="84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58368" y="3072384"/>
          <a:ext cx="2743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68680" y="5321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来源等级结构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767328" y="3035808"/>
            <a:ext cx="694944" cy="256032"/>
          </a:xfrm>
          <a:prstGeom prst="rect">
            <a:avLst/>
          </a:prstGeom>
          <a:solidFill>
            <a:srgbClr val="70AD47"/>
          </a:solidFill>
          <a:ln>
            <a:solidFill>
              <a:srgbClr val="70AD47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590288" y="3054096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来源直接披露的数据或表述，可进入正文，但必须标注年份与口径。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3767328" y="3602736"/>
            <a:ext cx="694944" cy="256032"/>
          </a:xfrm>
          <a:prstGeom prst="rect">
            <a:avLst/>
          </a:prstGeom>
          <a:solidFill>
            <a:srgbClr val="2F75B5"/>
          </a:solidFill>
          <a:ln>
            <a:solidFill>
              <a:srgbClr val="2F75B5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90288" y="3621024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由多个事实综合形成的判断，需要说明“根据公开资料推断”。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3767328" y="4169664"/>
            <a:ext cx="694944" cy="256032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590288" y="4187952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暂未闭合证据，进入访谈和后续验证，不直接当作结论。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3767328" y="4828032"/>
            <a:ext cx="69037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5010912"/>
            <a:ext cx="6903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研究边界：公开资料无法完整还原细分份额和项目级ROI，所以不强行拼接不同口径的CR3/CR5。</a:t>
            </a:r>
            <a:endParaRPr lang="en-US" sz="930" dirty="0"/>
          </a:p>
        </p:txBody>
      </p:sp>
      <p:sp>
        <p:nvSpPr>
          <p:cNvPr id="31" name="Text 28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来源：研究底稿02_资料来源库、14_研究覆盖仪表盘</a:t>
            </a:r>
            <a:endParaRPr lang="en-US" sz="620" dirty="0"/>
          </a:p>
        </p:txBody>
      </p:sp>
      <p:sp>
        <p:nvSpPr>
          <p:cNvPr id="32" name="Text 29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MARKET DRIVERS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中国已成为全球机器人需求中心，国产替代与制造升级共同推动扩容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需求侧规模、国产份额和产量增速构成行业底盘。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303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2024年，中国工业机器人安装量约29.5万台，占全球54%；运行存量超过200万台。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22402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这意味着中国不是“跟随市场”，而是全球自动化设备、机器人本体、核心零部件与工业软件最重要的需求中心。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" y="2999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国产厂商国内份额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603504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65376" y="3429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2024年首次超过外资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2578608" y="2999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工业机器人产量</a:t>
            </a:r>
            <a:endParaRPr lang="en-US" sz="740" dirty="0"/>
          </a:p>
        </p:txBody>
      </p:sp>
      <p:sp>
        <p:nvSpPr>
          <p:cNvPr id="14" name="Text 12"/>
          <p:cNvSpPr/>
          <p:nvPr/>
        </p:nvSpPr>
        <p:spPr>
          <a:xfrm>
            <a:off x="2578608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+28.0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840480" y="3429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578608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2025同比</a:t>
            </a:r>
            <a:endParaRPr lang="en-US" sz="660" dirty="0"/>
          </a:p>
        </p:txBody>
      </p:sp>
      <p:sp>
        <p:nvSpPr>
          <p:cNvPr id="17" name="Text 15"/>
          <p:cNvSpPr/>
          <p:nvPr/>
        </p:nvSpPr>
        <p:spPr>
          <a:xfrm>
            <a:off x="4526280" y="29992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减速器产量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4526280" y="32552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+63.9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788152" y="34290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26280" y="369417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2025同比</a:t>
            </a:r>
            <a:endParaRPr lang="en-US" sz="66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6400800" y="1325880"/>
          <a:ext cx="5120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594360" y="5029200"/>
            <a:ext cx="5166360" cy="438912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咨询判断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市场增长来自“需求中心+国产替代+核心部件扩容”三股力，不宜只用一个市场规模数字概括。</a:t>
            </a:r>
            <a:endParaRPr lang="en-US" sz="830" dirty="0"/>
          </a:p>
        </p:txBody>
      </p:sp>
      <p:sp>
        <p:nvSpPr>
          <p:cNvPr id="23" name="Text 20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来源：S01 IFR World Robotics 2025；S02 国家统计局2025年工业生产数据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VALUE CHAIN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工业自动化不是一个市场，而是一条控制、执行、集成与服务的价值链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AI机会通常藏在数据流断裂和决策流卡顿的位置。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2048256"/>
            <a:ext cx="128016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14216" y="2048256"/>
            <a:ext cx="128016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33872" y="2048256"/>
            <a:ext cx="128016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53528" y="2048256"/>
            <a:ext cx="128016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73184" y="2048256"/>
            <a:ext cx="128016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02920" y="1572768"/>
            <a:ext cx="1691640" cy="256032"/>
          </a:xfrm>
          <a:prstGeom prst="rect">
            <a:avLst/>
          </a:prstGeom>
          <a:solidFill>
            <a:srgbClr val="1F4E79"/>
          </a:solidFill>
          <a:ln>
            <a:solidFill>
              <a:srgbClr val="1F4E79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核心部件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02920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减速器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伺服电机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传感器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2322576" y="1572768"/>
            <a:ext cx="1691640" cy="256032"/>
          </a:xfrm>
          <a:prstGeom prst="rect">
            <a:avLst/>
          </a:prstGeom>
          <a:solidFill>
            <a:srgbClr val="0F6B78"/>
          </a:solidFill>
          <a:ln>
            <a:solidFill>
              <a:srgbClr val="0F6B78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控制与驱动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2322576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PLC / DCS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变频器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运动控制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4142232" y="1572768"/>
            <a:ext cx="1691640" cy="256032"/>
          </a:xfrm>
          <a:prstGeom prst="rect">
            <a:avLst/>
          </a:prstGeom>
          <a:solidFill>
            <a:srgbClr val="70AD47"/>
          </a:solidFill>
          <a:ln>
            <a:solidFill>
              <a:srgbClr val="70AD47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机器人本体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4142232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六轴 / SCARA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协作机器人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移动机器人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5961888" y="1572768"/>
            <a:ext cx="1691640" cy="256032"/>
          </a:xfrm>
          <a:prstGeom prst="rect">
            <a:avLst/>
          </a:prstGeom>
          <a:solidFill>
            <a:srgbClr val="ED7D31"/>
          </a:solidFill>
          <a:ln>
            <a:solidFill>
              <a:srgbClr val="ED7D31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系统集成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961888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非标产线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工站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项目交付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7781544" y="1572768"/>
            <a:ext cx="1691640" cy="256032"/>
          </a:xfrm>
          <a:prstGeom prst="rect">
            <a:avLst/>
          </a:prstGeom>
          <a:solidFill>
            <a:srgbClr val="C00000"/>
          </a:solidFill>
          <a:ln>
            <a:solidFill>
              <a:srgbClr val="C00000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工业软件/AI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81544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 / SCADA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数据平台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工业智能体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9601200" y="1572768"/>
            <a:ext cx="1691640" cy="256032"/>
          </a:xfrm>
          <a:prstGeom prst="rect">
            <a:avLst/>
          </a:prstGeom>
          <a:solidFill>
            <a:srgbClr val="394B59"/>
          </a:solidFill>
          <a:ln>
            <a:solidFill>
              <a:srgbClr val="394B59">
                <a:alpha val="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终端制造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601200" y="1865376"/>
            <a:ext cx="1691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汽车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锂电/光伏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658368" y="3063240"/>
            <a:ext cx="914400" cy="237744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产品流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737360" y="3072384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标准部件 → 控制产品 → 自动化设备 → 产线方案 → 持续服务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58368" y="3593592"/>
            <a:ext cx="914400" cy="237744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资金流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737360" y="3602736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项目合同、验收回款、备件服务、软件订阅共同决定现金质量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58368" y="4123944"/>
            <a:ext cx="914400" cy="237744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数据流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737360" y="413308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客户需求、方案、BOM、工艺、设备、质检、工单在多系统间流转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594360" y="4828032"/>
            <a:ext cx="1074420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102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定价权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49808" y="5376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来自核心技术、客户认证、可靠性和切换成本，而不是单点功能。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49808" y="5833872"/>
            <a:ext cx="292608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270248" y="5102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利润池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270248" y="5376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标准化产品与核心零部件更容易复制；重项目交付易受变更与回款影响。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4270248" y="5833872"/>
            <a:ext cx="292608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790688" y="5102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AI切入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790688" y="5376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先从文本、知识、方案、工单等可审场景入手，再推进生产控制。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7790688" y="5833872"/>
            <a:ext cx="292608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来源：S06—S15企业年报；研究底稿03_产业链与价值流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FINANCIAL TRENDS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收入增长并未自动转化为利润，细分商业模式决定经营质量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五年趋势比单年横截面更能看出周期、产品结构和项目风险。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371600"/>
          <a:ext cx="53492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04672" y="53949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营业收入趋势</a:t>
            </a:r>
            <a:endParaRPr lang="en-US" sz="95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419088" y="1371600"/>
          <a:ext cx="5166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748272" y="53949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净利率趋势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640080" y="5833872"/>
            <a:ext cx="10789920" cy="384048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关键读法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汇川技术体现规模化产品的增长韧性；埃斯顿显示本体与集成业务利润波动；绿的谐波规模小但利润率较高且周期明显；中控技术2025年处于转型承压期。</a:t>
            </a:r>
            <a:endParaRPr lang="en-US" sz="830" dirty="0"/>
          </a:p>
        </p:txBody>
      </p:sp>
      <p:sp>
        <p:nvSpPr>
          <p:cNvPr id="12" name="Text 8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来源：S06、S07、S08、S11、S19—S22；单位：亿元/百分比</a:t>
            </a:r>
            <a:endParaRPr lang="en-US" sz="620" dirty="0"/>
          </a:p>
        </p:txBody>
      </p:sp>
      <p:sp>
        <p:nvSpPr>
          <p:cNvPr id="13" name="Text 9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PROFIT POOL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标准化核心部件与规模化控制产品更容易保留利润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利润分化不是“好行业/坏行业”的区别，而是商业模式和交付方式的区别。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353312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916168"/>
            <a:ext cx="4892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代表企业2025年净利率对比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6400800" y="1463040"/>
            <a:ext cx="1490472" cy="292608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核心部件/控制产品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6400800" y="1874520"/>
            <a:ext cx="149047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标准化程度高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客户认证与切换成本较高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边际复制成本较低</a:t>
            </a:r>
            <a:endParaRPr lang="en-US" sz="740" dirty="0"/>
          </a:p>
        </p:txBody>
      </p:sp>
      <p:sp>
        <p:nvSpPr>
          <p:cNvPr id="11" name="Shape 8"/>
          <p:cNvSpPr/>
          <p:nvPr/>
        </p:nvSpPr>
        <p:spPr>
          <a:xfrm>
            <a:off x="7146036" y="3337560"/>
            <a:ext cx="0" cy="411480"/>
          </a:xfrm>
          <a:prstGeom prst="line">
            <a:avLst/>
          </a:prstGeom>
          <a:noFill/>
          <a:ln w="13970">
            <a:solidFill>
              <a:srgbClr val="70AD47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6400800" y="3840480"/>
            <a:ext cx="1490472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利润更容易沉淀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92440" y="1463040"/>
            <a:ext cx="1490472" cy="292608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机器人本体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8092440" y="1874520"/>
            <a:ext cx="149047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国产份额提升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价格竞争仍然明显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需依赖应用生态</a:t>
            </a:r>
            <a:endParaRPr lang="en-US" sz="740" dirty="0"/>
          </a:p>
        </p:txBody>
      </p:sp>
      <p:sp>
        <p:nvSpPr>
          <p:cNvPr id="15" name="Shape 12"/>
          <p:cNvSpPr/>
          <p:nvPr/>
        </p:nvSpPr>
        <p:spPr>
          <a:xfrm>
            <a:off x="8837676" y="3337560"/>
            <a:ext cx="0" cy="411480"/>
          </a:xfrm>
          <a:prstGeom prst="line">
            <a:avLst/>
          </a:prstGeom>
          <a:noFill/>
          <a:ln w="13970">
            <a:solidFill>
              <a:srgbClr val="ED7D31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8092440" y="3840480"/>
            <a:ext cx="1490472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利润弹性取决于规模与差异化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784080" y="1463040"/>
            <a:ext cx="1490472" cy="29260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系统集成/非标项目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9784080" y="1874520"/>
            <a:ext cx="149047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项目制交付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变更、延期、回款压力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人力和资金占用较重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10529316" y="3337560"/>
            <a:ext cx="0" cy="411480"/>
          </a:xfrm>
          <a:prstGeom prst="line">
            <a:avLst/>
          </a:prstGeom>
          <a:noFill/>
          <a:ln w="1397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9784080" y="3840480"/>
            <a:ext cx="1490472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D9E1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收入可扩张，利润波动更大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00800" y="4828032"/>
            <a:ext cx="5029200" cy="621792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避免误判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利润池判断必须看毛利率、净利率、现金流、客户集中度和项目回款，而不是只看企业营收规模。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来源：S06—S16；研究底稿04_企业对标、06_竞争格局与壁垒</a:t>
            </a:r>
            <a:endParaRPr lang="en-US" sz="620" dirty="0"/>
          </a:p>
        </p:txBody>
      </p:sp>
      <p:sp>
        <p:nvSpPr>
          <p:cNvPr id="23" name="Text 20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COMPETITION STRUCTURE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不同细分赛道的集中度和定价权差异显著，不能用一个行业CR3概括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对同一来源、同一年份、同一市场口径才计算集中度；否则用梯队矩阵表达。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细分赛道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2066544" y="133502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公开证据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4334256" y="133502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定价权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632704" y="133502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壁垒来源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66928" y="1536192"/>
            <a:ext cx="1207008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DCS/SIS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029968" y="1563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中控DCS 45.1%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SIS 31.4%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4251960" y="1572768"/>
            <a:ext cx="804672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1F4E7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5559552" y="157276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长期装机、连续生产安全、迁移风险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66928" y="2103120"/>
            <a:ext cx="102412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13432"/>
            <a:ext cx="1207008" cy="411480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通用伺服/变频器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029968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汇川伺服31%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低压变频20%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4251960" y="2350008"/>
            <a:ext cx="804672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F6B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较强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559552" y="235000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产品矩阵、渠道、OEM认证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66928" y="2880360"/>
            <a:ext cx="102412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090672"/>
            <a:ext cx="1207008" cy="41148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机器人本体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029968" y="31181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国产份额57%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但利润分化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4251960" y="3127248"/>
            <a:ext cx="804672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ED7D3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5559552" y="312724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性能成本、应用生态、价格竞争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66928" y="3657600"/>
            <a:ext cx="102412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67912"/>
            <a:ext cx="1207008" cy="41148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系统集成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029968" y="3895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高度分散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项目制交付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4251960" y="3904488"/>
            <a:ext cx="804672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C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偏弱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5559552" y="390448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客户关系、项目管理、交付回款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566928" y="4434840"/>
            <a:ext cx="1024128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645152"/>
            <a:ext cx="1207008" cy="41148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工业软件/AI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2029968" y="46725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商业化早期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ARR开始出现</a:t>
            </a:r>
            <a:endParaRPr lang="en-US" sz="770" dirty="0"/>
          </a:p>
        </p:txBody>
      </p:sp>
      <p:sp>
        <p:nvSpPr>
          <p:cNvPr id="33" name="Text 31"/>
          <p:cNvSpPr/>
          <p:nvPr/>
        </p:nvSpPr>
        <p:spPr>
          <a:xfrm>
            <a:off x="4251960" y="4681728"/>
            <a:ext cx="804672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70AD4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0AD4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潜在强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5559552" y="468172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数据平台、行业模型、持续服务</a:t>
            </a:r>
            <a:endParaRPr lang="en-US" sz="830" dirty="0"/>
          </a:p>
        </p:txBody>
      </p:sp>
      <p:sp>
        <p:nvSpPr>
          <p:cNvPr id="35" name="Text 33"/>
          <p:cNvSpPr/>
          <p:nvPr/>
        </p:nvSpPr>
        <p:spPr>
          <a:xfrm>
            <a:off x="658368" y="5596128"/>
            <a:ext cx="10515600" cy="438912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口径原则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把“自动化行业”当作一个单一市场去算份额，会把控制产品、本体、集成和软件混在同一锅里，汤很好看但味道会跑。</a:t>
            </a:r>
            <a:endParaRPr lang="en-US" sz="830" dirty="0"/>
          </a:p>
        </p:txBody>
      </p:sp>
      <p:sp>
        <p:nvSpPr>
          <p:cNvPr id="36" name="Text 34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来源：S06、S08、S13、S14、S15、S37—S39；研究底稿06_竞争格局与壁垒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CUSTOMER EVIDENCE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制造企业数字化收益主要体现在交付、质量、库存、设备与协同效率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客户侧案例让AI机会从“厂商会讲”落到“企业真痛”。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1005840" cy="237744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研发协同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效率提升40%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621792" y="2221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版本错误率降低60%+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3931920" y="1527048"/>
            <a:ext cx="0" cy="9601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417320"/>
            <a:ext cx="1005840" cy="237744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排程库存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79392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在制品库存降低20%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4279392" y="2221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库存周转6→8次/年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7589520" y="1527048"/>
            <a:ext cx="0" cy="9601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1417320"/>
            <a:ext cx="1005840" cy="237744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MES交付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936992" y="18288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准时交付率78%→95%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7936992" y="222199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异常响应小时级→分钟级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21792" y="2926080"/>
            <a:ext cx="1005840" cy="237744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质量检测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良率96.36%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621792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检测成本降低24.43%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931920" y="3035808"/>
            <a:ext cx="0" cy="9601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2926080"/>
            <a:ext cx="1005840" cy="237744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设备维护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279392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故障率降低15%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279392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备件库存降低20%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7589520" y="3035808"/>
            <a:ext cx="0" cy="96012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36992" y="2926080"/>
            <a:ext cx="1005840" cy="237744"/>
          </a:xfrm>
          <a:prstGeom prst="rect">
            <a:avLst/>
          </a:prstGeom>
          <a:solidFill>
            <a:srgbClr val="394B5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能耗工艺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936992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百元营收能耗降低56%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7936992" y="373075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设备数字化率100%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621792" y="4553712"/>
            <a:ext cx="1078992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892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启示一</a:t>
            </a:r>
            <a:endParaRPr lang="en-US" sz="730" dirty="0"/>
          </a:p>
        </p:txBody>
      </p:sp>
      <p:sp>
        <p:nvSpPr>
          <p:cNvPr id="31" name="Text 29"/>
          <p:cNvSpPr/>
          <p:nvPr/>
        </p:nvSpPr>
        <p:spPr>
          <a:xfrm>
            <a:off x="749808" y="5166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系统打通本身就能产生收益，AI不应跳过数据基础直接上模型。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315968" y="4892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启示二</a:t>
            </a:r>
            <a:endParaRPr lang="en-US" sz="730" dirty="0"/>
          </a:p>
        </p:txBody>
      </p:sp>
      <p:sp>
        <p:nvSpPr>
          <p:cNvPr id="33" name="Text 31"/>
          <p:cNvSpPr/>
          <p:nvPr/>
        </p:nvSpPr>
        <p:spPr>
          <a:xfrm>
            <a:off x="4315968" y="5166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质检、维护、排程和知识场景的收益更容易量化，适合作为试点切入口。</a:t>
            </a:r>
            <a:endParaRPr lang="en-US" sz="840" dirty="0"/>
          </a:p>
        </p:txBody>
      </p:sp>
      <p:sp>
        <p:nvSpPr>
          <p:cNvPr id="34" name="Text 32"/>
          <p:cNvSpPr/>
          <p:nvPr/>
        </p:nvSpPr>
        <p:spPr>
          <a:xfrm>
            <a:off x="7882128" y="48920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启示三</a:t>
            </a:r>
            <a:endParaRPr lang="en-US" sz="730" dirty="0"/>
          </a:p>
        </p:txBody>
      </p:sp>
      <p:sp>
        <p:nvSpPr>
          <p:cNvPr id="35" name="Text 33"/>
          <p:cNvSpPr/>
          <p:nvPr/>
        </p:nvSpPr>
        <p:spPr>
          <a:xfrm>
            <a:off x="7882128" y="51663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客户案例仍需一线访谈验证投入成本、持续采用率和实际ROI。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来源：S26—S30工信系统中小企业数字化转型实践样本；研究底稿12_客户侧量化案例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BUSINESS PAIN POINTS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自动化企业的效率损失集中在非结构化需求、经验孤岛和系统断层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从线索到售后的业务流程，是AI机会的“矿脉图”。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615184" y="2002536"/>
            <a:ext cx="22860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45736" y="2002536"/>
            <a:ext cx="22860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76288" y="2002536"/>
            <a:ext cx="22860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06840" y="2002536"/>
            <a:ext cx="22860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13232" y="1572768"/>
            <a:ext cx="1901952" cy="27432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线索/拜访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13232" y="1883664"/>
            <a:ext cx="1901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需求散落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CRM记录不完整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843784" y="1572768"/>
            <a:ext cx="1901952" cy="274320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售前方案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43784" y="1883664"/>
            <a:ext cx="1901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历史方案难检索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重复写作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974336" y="1572768"/>
            <a:ext cx="1901952" cy="27432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报价/投标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74336" y="1883664"/>
            <a:ext cx="1901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BOM与条款冲突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漏项错价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7104888" y="1572768"/>
            <a:ext cx="1901952" cy="27432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项目交付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04888" y="1883664"/>
            <a:ext cx="1901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变更频繁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进度和物料脱节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9235440" y="1572768"/>
            <a:ext cx="1901952" cy="27432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售后服务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235440" y="1883664"/>
            <a:ext cx="1901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老师傅经验难复用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响应慢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三类根因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" y="3456432"/>
            <a:ext cx="384048" cy="219456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53312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资料非结构化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41248" y="38221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微信、录音、邮件、会议纪要、图纸、合同散落各处，无法被组织持续利用。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544568" y="3456432"/>
            <a:ext cx="384048" cy="219456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56632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经验个体化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544568" y="38221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售前、售后和项目交付依赖个人经验，新人复制慢，跨项目复盘弱。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8247888" y="3456432"/>
            <a:ext cx="384048" cy="219456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59952" y="3438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系统断层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47888" y="38221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CRM、ERP、MES、WMS、工单系统之间数据不一致，导致预测和协同滞后。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49808" y="5230368"/>
            <a:ext cx="10287000" cy="530352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关键判断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因此，AI不是先替代工程师，而是先把组织里的非结构化资料、历史方案、故障经验和流程数据变成可检索、可复核、可沉淀的资产。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来源：研究底稿07_痛点与AI机会、12_客户侧量化案例、09_访谈提纲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INDUSTRIAL AI CASES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官方案例中质检、运维和辅助决策最活跃，但多数未公开投入与ROI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案例库能证明方向正在发生，但不能替代商业回报测算。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53312"/>
          <a:ext cx="51206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868680" y="57424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30个官方工业AI案例按业务环节分布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309360" y="141732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质检/视觉最密集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309360" y="16916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14个案例集中在视觉检测、缺陷识别、分拣检定等环节，说明数据输入清晰、收益可量化，是较成熟的工业AI入口。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09360" y="2148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6309360" y="27706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设备运维具备规模化潜力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09360" y="3044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预测维护、状态监测和运维助手合计7个案例，适合设备密集型制造企业，但依赖稳定的时序数据和故障标签。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309360" y="350215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6309360" y="4123944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D7D3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知识助手数量少但适合首批试点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309360" y="439826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官方库中只有少量生成式AI知识助手案例，但其风险低、资料已有、人工可审，适合咨询方案中的第一阶段落地。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309360" y="48554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6309360" y="5532120"/>
            <a:ext cx="4892040" cy="438912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证据边界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入选名单不等于ROI成立。正式方案需要继续验证投入成本、数据治理成本和持续采用率。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来源：S23人工智能赋能新型工业化典型应用案例名单；研究底稿13_AI案例库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OPPORTUNITY RANKING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文本、知识和可人工复核的辅助决策场景更适合作为第一批试点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评分逻辑：业务价值30% + 痛点频率15% + 数据条件15% + AI适配度20% + 实施可行性20%。</a:t>
            </a:r>
            <a:endParaRPr lang="en-US" sz="8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66928" y="1243584"/>
          <a:ext cx="6583680" cy="49011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635240" y="1481328"/>
            <a:ext cx="676656" cy="256032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一期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458200" y="146304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客户需求自动提取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售后知识助手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历史方案检索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会议纪要写回CRM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635240" y="2898648"/>
            <a:ext cx="676656" cy="256032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二期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458200" y="288036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报价/BOM异常检查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预测性维护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视觉质检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生产排程优化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635240" y="4315968"/>
            <a:ext cx="676656" cy="256032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58200" y="4297680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工艺参数优化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自主闭环控制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589520" y="5376672"/>
            <a:ext cx="352044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55778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排序含义不是“技术能不能做”，而是“企业是否值得先做”。首批场景应高频、可审、数据已有、效果可量化。</a:t>
            </a:r>
            <a:endParaRPr lang="en-US" sz="860" dirty="0"/>
          </a:p>
        </p:txBody>
      </p:sp>
      <p:sp>
        <p:nvSpPr>
          <p:cNvPr id="16" name="Text 13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来源：研究底稿08_AI机会评分；评分为公开资料+业务逻辑推断，需访谈校准</a:t>
            </a:r>
            <a:endParaRPr lang="en-US" sz="620" dirty="0"/>
          </a:p>
        </p:txBody>
      </p:sp>
      <p:sp>
        <p:nvSpPr>
          <p:cNvPr id="17" name="Text 14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PILOT DESIGN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客户需求到方案助手可在低风险条件下验证效率、完整性和采用率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把销售/售前手里的碎片信息，变成组织可复用的方案资产。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12848" y="1911096"/>
            <a:ext cx="146304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041648" y="1911096"/>
            <a:ext cx="146304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870448" y="1911096"/>
            <a:ext cx="146304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699248" y="1911096"/>
            <a:ext cx="146304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528048" y="1911096"/>
            <a:ext cx="146304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0352" y="1481328"/>
            <a:ext cx="1682496" cy="24688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会议纪要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微信/邮件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客户资料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2359152" y="1481328"/>
            <a:ext cx="1682496" cy="246888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抽取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91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客户背景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需求字段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约束条件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4187952" y="1481328"/>
            <a:ext cx="1682496" cy="246888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879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历史方案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产品手册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案例库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6016752" y="1481328"/>
            <a:ext cx="1682496" cy="246888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167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追问清单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方案初稿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风险提示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7845552" y="1481328"/>
            <a:ext cx="1682496" cy="246888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455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销售/售前确认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修改留痕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9674352" y="1481328"/>
            <a:ext cx="1682496" cy="246888"/>
          </a:xfrm>
          <a:prstGeom prst="rect">
            <a:avLst/>
          </a:prstGeom>
          <a:solidFill>
            <a:srgbClr val="394B5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写回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74352" y="1773936"/>
            <a:ext cx="168249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CRM商机</a:t>
            </a:r>
            <a:endParaRPr lang="en-US" sz="760" dirty="0"/>
          </a:p>
          <a:p>
            <a:pPr algn="ctr" indent="0" marL="0">
              <a:buNone/>
            </a:pPr>
            <a:r>
              <a:rPr lang="en-US" sz="76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知识库沉淀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658368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试点衡量指标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49808" y="3364992"/>
            <a:ext cx="731520" cy="219456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749808" y="3703320"/>
            <a:ext cx="2148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需求整理耗时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方案初稿生成时间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会议纪要写回耗时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3493008" y="3364992"/>
            <a:ext cx="731520" cy="219456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3493008" y="3703320"/>
            <a:ext cx="2148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需求字段完整率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方案返工次数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引用资料准确率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236208" y="3364992"/>
            <a:ext cx="731520" cy="219456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采用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6236208" y="3703320"/>
            <a:ext cx="2148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销售/售前使用率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人工修改率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写回CRM比例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979408" y="3364992"/>
            <a:ext cx="731520" cy="21945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8979408" y="3703320"/>
            <a:ext cx="21488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敏感数据留存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幻觉率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人工审核覆盖率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49808" y="5074920"/>
            <a:ext cx="10378440" cy="603504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D9E1F2"/>
            </a:solidFill>
          </a:ln>
        </p:spPr>
        <p:txBody>
          <a:bodyPr wrap="square" lIns="1143" tIns="1143" rIns="1143" bIns="1143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人在回路  </a:t>
            </a:r>
            <a:pPr indent="0" marL="0">
              <a:buNone/>
            </a:pPr>
            <a:r>
              <a:rPr lang="en-US" sz="83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底线：AI只生成结构化建议和方案初稿，不自动承诺技术指标、报价价格、交期或合同义务；所有对外信息必须由销售/售前/商务人工确认。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来源：研究底稿08_AI机会评分、09_访谈提纲；试点设计为咨询建议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0116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IMPLEMENTATION ROADMAP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三个月试点建立数据、评测和组织闭环，再扩展到生产与控制场景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3192" y="9601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公开信息已经把地图画出来，访谈负责确认哪些桥真的能走。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977640" y="2066544"/>
            <a:ext cx="41148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635240" y="2066544"/>
            <a:ext cx="411480" cy="0"/>
          </a:xfrm>
          <a:prstGeom prst="line">
            <a:avLst/>
          </a:prstGeom>
          <a:noFill/>
          <a:ln w="12700">
            <a:solidFill>
              <a:srgbClr val="9AA9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1572768"/>
            <a:ext cx="621792" cy="219456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1328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数据准备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984248"/>
            <a:ext cx="3246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梳理需求字段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清洗历史方案/手册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确定安全边界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4389120" y="1572768"/>
            <a:ext cx="621792" cy="219456"/>
          </a:xfrm>
          <a:prstGeom prst="rect">
            <a:avLst/>
          </a:prstGeom>
          <a:solidFill>
            <a:srgbClr val="0F6B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第2月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38928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小范围试点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0" y="1984248"/>
            <a:ext cx="3246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2个销售小组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50个真实商机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人工审核全覆盖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8046720" y="1572768"/>
            <a:ext cx="621792" cy="219456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第3月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796528" y="1554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评估扩展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1984248"/>
            <a:ext cx="3246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对比耗时与返工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复盘失败样本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决定是否扩到售后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658368" y="3154680"/>
            <a:ext cx="10652760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剩余证据缺口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914400" cy="21945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一线访谈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901952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访谈销售、售前、项目经理、设备负责人3—5人，验证痛点频率与采购决策。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080760" y="3895344"/>
            <a:ext cx="914400" cy="219456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项目ROI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159752" y="38862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补充投入成本、维护成本、持续采用率，避免只讲效果不讲成本。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822960" y="4736592"/>
            <a:ext cx="914400" cy="219456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细分份额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901952" y="4727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只在同来源同年份下计算CR3/CR5，否则用梯队图表达。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080760" y="4736592"/>
            <a:ext cx="914400" cy="219456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招投标材料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159752" y="4727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收集8—10份公开采购或验收文件，验证客户选型指标。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68096" y="579729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作品集表达建议：把“公开资料形成的判断”与“访谈后待验证的假设”分层呈现，反而更像咨询顾问，而不是资料搬运工。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647395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7A869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来源：研究底稿14_研究覆盖仪表盘、09_访谈提纲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1384280" y="64648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B65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中国工业自动化与工业机器人行业及AI应用机会研究</dc:title>
  <dc:subject>中国工业自动化与机器人行业研究</dc:subject>
  <dc:creator>OpenAI</dc:creator>
  <cp:lastModifiedBy>OpenAI</cp:lastModifiedBy>
  <cp:revision>1</cp:revision>
  <dcterms:created xsi:type="dcterms:W3CDTF">2026-07-20T07:38:56Z</dcterms:created>
  <dcterms:modified xsi:type="dcterms:W3CDTF">2026-07-20T07:38:56Z</dcterms:modified>
</cp:coreProperties>
</file>