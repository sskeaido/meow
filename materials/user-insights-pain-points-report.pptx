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</p:sldIdLst>
  <p:sldSz cx="16256000" cy="9144000"/>
  <p:notesSz cx="9144000" cy="16256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DDB6"/>
    <a:srgbClr val="A9D9B7"/>
    <a:srgbClr val="5EB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92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257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144000" y="0"/>
            <a:ext cx="7112000" cy="9144000"/>
          </a:xfrm>
          <a:prstGeom prst="rtTriangle">
            <a:avLst/>
          </a:prstGeom>
          <a:gradFill flip="none" rotWithShape="1">
            <a:gsLst>
              <a:gs pos="0">
                <a:srgbClr val="0868A6"/>
              </a:gs>
              <a:gs pos="50000">
                <a:srgbClr val="439CC4"/>
              </a:gs>
              <a:gs pos="100000">
                <a:srgbClr val="B4DEB6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946589" y="2515805"/>
            <a:ext cx="3552426" cy="45719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4" name="Text 2"/>
          <p:cNvSpPr/>
          <p:nvPr/>
        </p:nvSpPr>
        <p:spPr>
          <a:xfrm>
            <a:off x="710278" y="3038871"/>
            <a:ext cx="12506282" cy="260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200000"/>
              </a:lnSpc>
            </a:pPr>
            <a:r>
              <a:rPr lang="zh-CN" altLang="en-US" sz="4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家装用户社媒痛点分析与产品机会识别</a:t>
            </a:r>
            <a:r>
              <a:rPr lang="en-US" sz="4200" b="1" dirty="0" err="1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深度分析报告</a:t>
            </a:r>
            <a:r>
              <a:rPr lang="en-US" sz="44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               </a:t>
            </a:r>
            <a:r>
              <a:rPr lang="en-US" sz="32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32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基于小红书“装修避坑</a:t>
            </a:r>
            <a:r>
              <a:rPr lang="en-US" altLang="zh-CN" sz="32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2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踩坑”类内容的用户需求分析  </a:t>
            </a:r>
            <a:endParaRPr lang="en-US" sz="3600" dirty="0">
              <a:solidFill>
                <a:srgbClr val="2C3E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Shape 3"/>
          <p:cNvSpPr/>
          <p:nvPr/>
        </p:nvSpPr>
        <p:spPr>
          <a:xfrm flipV="1">
            <a:off x="946589" y="5513240"/>
            <a:ext cx="10815417" cy="45719"/>
          </a:xfrm>
          <a:prstGeom prst="rect">
            <a:avLst/>
          </a:prstGeom>
          <a:solidFill>
            <a:srgbClr val="439CC4"/>
          </a:solidFill>
          <a:ln/>
        </p:spPr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A5DDB5-9DFF-F291-BDEA-C35A4490B006}"/>
              </a:ext>
            </a:extLst>
          </p:cNvPr>
          <p:cNvSpPr txBox="1"/>
          <p:nvPr/>
        </p:nvSpPr>
        <p:spPr>
          <a:xfrm>
            <a:off x="687858" y="6124353"/>
            <a:ext cx="66060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样本来源：小红书公开内容</a:t>
            </a:r>
          </a:p>
          <a:p>
            <a:r>
              <a:rPr lang="zh-CN" altLang="en-US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有效样本：</a:t>
            </a:r>
            <a:r>
              <a:rPr lang="en-US" altLang="zh-CN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N=155</a:t>
            </a:r>
          </a:p>
          <a:p>
            <a:r>
              <a:rPr lang="zh-CN" altLang="en-US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分析方法：</a:t>
            </a:r>
            <a:r>
              <a:rPr lang="en-US" altLang="zh-CN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</a:t>
            </a:r>
            <a:r>
              <a:rPr lang="zh-CN" altLang="en-US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辅助解析 </a:t>
            </a:r>
            <a:r>
              <a:rPr lang="en-US" altLang="zh-CN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OCR</a:t>
            </a:r>
            <a:r>
              <a:rPr lang="zh-CN" altLang="en-US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识别 </a:t>
            </a:r>
            <a:r>
              <a:rPr lang="en-US" altLang="zh-CN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人工复核 </a:t>
            </a:r>
            <a:r>
              <a:rPr lang="en-US" altLang="zh-CN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结构化编码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zh-CN" altLang="en-US" sz="2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家装用户搜索“避坑”，本质是在寻找风险确定性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05000"/>
            <a:ext cx="4572000" cy="6096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05000"/>
            <a:ext cx="4572000" cy="63500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2476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0868A6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365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zh-CN" altLang="en-US" sz="2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家装消费的特殊性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9500" y="4000500"/>
            <a:ext cx="3937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高金额：装修决策成本高，试错代价大</a:t>
            </a:r>
            <a:endParaRPr lang="en-US" altLang="zh-CN" sz="2000" dirty="0">
              <a:solidFill>
                <a:srgbClr val="555555"/>
              </a:solidFill>
              <a:latin typeface="黑体" panose="02010609060101010101" pitchFamily="49" charset="-122"/>
              <a:ea typeface="黑体" panose="02010609060101010101" pitchFamily="49" charset="-122"/>
              <a:cs typeface="Liter" pitchFamily="34" charset="-120"/>
            </a:endParaRP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低频次：用户缺乏重复经验，天然是“小白”</a:t>
            </a:r>
            <a:endParaRPr lang="en-US" altLang="zh-CN" sz="2000" dirty="0">
              <a:solidFill>
                <a:srgbClr val="555555"/>
              </a:solidFill>
              <a:latin typeface="黑体" panose="02010609060101010101" pitchFamily="49" charset="-122"/>
              <a:ea typeface="黑体" panose="02010609060101010101" pitchFamily="49" charset="-122"/>
              <a:cs typeface="Liter" pitchFamily="34" charset="-120"/>
            </a:endParaRP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长链路：从咨询、设计、报价、合同到施工、验收、售后</a:t>
            </a:r>
            <a:endParaRPr lang="en-US" altLang="zh-CN" sz="2000" dirty="0">
              <a:solidFill>
                <a:srgbClr val="555555"/>
              </a:solidFill>
              <a:latin typeface="黑体" panose="02010609060101010101" pitchFamily="49" charset="-122"/>
              <a:ea typeface="黑体" panose="02010609060101010101" pitchFamily="49" charset="-122"/>
              <a:cs typeface="Liter" pitchFamily="34" charset="-120"/>
            </a:endParaRP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高不确定性：费用、责任、交付结果都容易模糊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42000" y="1905000"/>
            <a:ext cx="4572000" cy="6096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5842000" y="1905000"/>
            <a:ext cx="4572000" cy="63500"/>
          </a:xfrm>
          <a:prstGeom prst="rect">
            <a:avLst/>
          </a:prstGeom>
          <a:solidFill>
            <a:srgbClr val="439CC4"/>
          </a:solidFill>
          <a:ln/>
        </p:spPr>
      </p:sp>
      <p:sp>
        <p:nvSpPr>
          <p:cNvPr id="12" name="Shape 10"/>
          <p:cNvSpPr/>
          <p:nvPr/>
        </p:nvSpPr>
        <p:spPr>
          <a:xfrm>
            <a:off x="7823200" y="2476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3400" y="304800"/>
                </a:moveTo>
                <a:cubicBezTo>
                  <a:pt x="533400" y="178632"/>
                  <a:pt x="430968" y="76200"/>
                  <a:pt x="304800" y="76200"/>
                </a:cubicBezTo>
                <a:cubicBezTo>
                  <a:pt x="178632" y="76200"/>
                  <a:pt x="76200" y="178632"/>
                  <a:pt x="76200" y="304800"/>
                </a:cubicBezTo>
                <a:cubicBezTo>
                  <a:pt x="76200" y="430968"/>
                  <a:pt x="178632" y="533400"/>
                  <a:pt x="304800" y="533400"/>
                </a:cubicBezTo>
                <a:cubicBezTo>
                  <a:pt x="430968" y="533400"/>
                  <a:pt x="533400" y="430968"/>
                  <a:pt x="533400" y="304800"/>
                </a:cubicBezTo>
                <a:close/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304800" y="400050"/>
                </a:moveTo>
                <a:cubicBezTo>
                  <a:pt x="357370" y="400050"/>
                  <a:pt x="400050" y="357370"/>
                  <a:pt x="400050" y="304800"/>
                </a:cubicBezTo>
                <a:cubicBezTo>
                  <a:pt x="400050" y="252230"/>
                  <a:pt x="357370" y="209550"/>
                  <a:pt x="304800" y="209550"/>
                </a:cubicBezTo>
                <a:cubicBezTo>
                  <a:pt x="252230" y="209550"/>
                  <a:pt x="209550" y="252230"/>
                  <a:pt x="209550" y="304800"/>
                </a:cubicBezTo>
                <a:cubicBezTo>
                  <a:pt x="209550" y="357370"/>
                  <a:pt x="252230" y="400050"/>
                  <a:pt x="304800" y="400050"/>
                </a:cubicBezTo>
                <a:close/>
                <a:moveTo>
                  <a:pt x="304800" y="133350"/>
                </a:moveTo>
                <a:cubicBezTo>
                  <a:pt x="399426" y="133350"/>
                  <a:pt x="476250" y="210174"/>
                  <a:pt x="476250" y="304800"/>
                </a:cubicBezTo>
                <a:cubicBezTo>
                  <a:pt x="476250" y="399426"/>
                  <a:pt x="399426" y="476250"/>
                  <a:pt x="304800" y="476250"/>
                </a:cubicBezTo>
                <a:cubicBezTo>
                  <a:pt x="210174" y="476250"/>
                  <a:pt x="133350" y="399426"/>
                  <a:pt x="133350" y="304800"/>
                </a:cubicBezTo>
                <a:cubicBezTo>
                  <a:pt x="133350" y="210174"/>
                  <a:pt x="210174" y="133350"/>
                  <a:pt x="304800" y="133350"/>
                </a:cubicBezTo>
                <a:close/>
                <a:moveTo>
                  <a:pt x="266700" y="304800"/>
                </a:moveTo>
                <a:cubicBezTo>
                  <a:pt x="266700" y="283772"/>
                  <a:pt x="283772" y="266700"/>
                  <a:pt x="304800" y="266700"/>
                </a:cubicBezTo>
                <a:cubicBezTo>
                  <a:pt x="325828" y="266700"/>
                  <a:pt x="342900" y="283772"/>
                  <a:pt x="342900" y="304800"/>
                </a:cubicBezTo>
                <a:cubicBezTo>
                  <a:pt x="342900" y="325828"/>
                  <a:pt x="325828" y="342900"/>
                  <a:pt x="304800" y="342900"/>
                </a:cubicBezTo>
                <a:cubicBezTo>
                  <a:pt x="283772" y="342900"/>
                  <a:pt x="266700" y="325828"/>
                  <a:pt x="266700" y="304800"/>
                </a:cubicBezTo>
                <a:close/>
              </a:path>
            </a:pathLst>
          </a:custGeom>
          <a:solidFill>
            <a:srgbClr val="439CC4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3365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研究目标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59500" y="4000500"/>
            <a:ext cx="3937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识别用户在装修过程中主动表达的高频痛点</a:t>
            </a:r>
            <a:endParaRPr lang="en-US" altLang="zh-CN" sz="2000" dirty="0">
              <a:solidFill>
                <a:srgbClr val="555555"/>
              </a:solidFill>
              <a:latin typeface="黑体" panose="02010609060101010101" pitchFamily="49" charset="-122"/>
              <a:ea typeface="黑体" panose="02010609060101010101" pitchFamily="49" charset="-122"/>
              <a:cs typeface="Liter" pitchFamily="34" charset="-120"/>
            </a:endParaRPr>
          </a:p>
          <a:p>
            <a:pPr algn="l">
              <a:lnSpc>
                <a:spcPct val="160000"/>
              </a:lnSpc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分析痛点集中在哪些装修阶段</a:t>
            </a:r>
            <a:endParaRPr lang="en-US" altLang="zh-CN" sz="2000" dirty="0">
              <a:solidFill>
                <a:srgbClr val="555555"/>
              </a:solidFill>
              <a:latin typeface="黑体" panose="02010609060101010101" pitchFamily="49" charset="-122"/>
              <a:ea typeface="黑体" panose="02010609060101010101" pitchFamily="49" charset="-122"/>
              <a:cs typeface="Liter" pitchFamily="34" charset="-120"/>
            </a:endParaRPr>
          </a:p>
          <a:p>
            <a:pPr algn="l">
              <a:lnSpc>
                <a:spcPct val="160000"/>
              </a:lnSpc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观察不同搜索关键词背后的风险意图</a:t>
            </a:r>
            <a:endParaRPr lang="en-US" altLang="zh-CN" sz="2000" dirty="0">
              <a:solidFill>
                <a:srgbClr val="555555"/>
              </a:solidFill>
              <a:latin typeface="黑体" panose="02010609060101010101" pitchFamily="49" charset="-122"/>
              <a:ea typeface="黑体" panose="02010609060101010101" pitchFamily="49" charset="-122"/>
              <a:cs typeface="Liter" pitchFamily="34" charset="-120"/>
            </a:endParaRPr>
          </a:p>
          <a:p>
            <a:pPr algn="l">
              <a:lnSpc>
                <a:spcPct val="160000"/>
              </a:lnSpc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构建家装用户“风险地图”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922000" y="1905000"/>
            <a:ext cx="4572000" cy="6096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22000" y="1905000"/>
            <a:ext cx="4572000" cy="63500"/>
          </a:xfrm>
          <a:prstGeom prst="rect">
            <a:avLst/>
          </a:prstGeom>
          <a:solidFill>
            <a:srgbClr val="7BC6B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903200" y="2476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304800" y="209550"/>
                </a:moveTo>
                <a:cubicBezTo>
                  <a:pt x="283726" y="209550"/>
                  <a:pt x="266700" y="226576"/>
                  <a:pt x="266700" y="247650"/>
                </a:cubicBezTo>
                <a:cubicBezTo>
                  <a:pt x="266700" y="263485"/>
                  <a:pt x="253960" y="276225"/>
                  <a:pt x="238125" y="276225"/>
                </a:cubicBezTo>
                <a:cubicBezTo>
                  <a:pt x="222290" y="276225"/>
                  <a:pt x="209550" y="263485"/>
                  <a:pt x="209550" y="247650"/>
                </a:cubicBezTo>
                <a:cubicBezTo>
                  <a:pt x="209550" y="195024"/>
                  <a:pt x="252174" y="152400"/>
                  <a:pt x="304800" y="152400"/>
                </a:cubicBezTo>
                <a:cubicBezTo>
                  <a:pt x="357426" y="152400"/>
                  <a:pt x="400050" y="195024"/>
                  <a:pt x="400050" y="247650"/>
                </a:cubicBezTo>
                <a:cubicBezTo>
                  <a:pt x="400050" y="303848"/>
                  <a:pt x="357188" y="327660"/>
                  <a:pt x="333375" y="336352"/>
                </a:cubicBezTo>
                <a:lnTo>
                  <a:pt x="333375" y="340876"/>
                </a:lnTo>
                <a:cubicBezTo>
                  <a:pt x="333375" y="356711"/>
                  <a:pt x="320635" y="369451"/>
                  <a:pt x="304800" y="369451"/>
                </a:cubicBezTo>
                <a:cubicBezTo>
                  <a:pt x="288965" y="369451"/>
                  <a:pt x="276225" y="356711"/>
                  <a:pt x="276225" y="340876"/>
                </a:cubicBezTo>
                <a:lnTo>
                  <a:pt x="276225" y="331232"/>
                </a:lnTo>
                <a:cubicBezTo>
                  <a:pt x="276225" y="306824"/>
                  <a:pt x="293846" y="289322"/>
                  <a:pt x="312063" y="283369"/>
                </a:cubicBezTo>
                <a:cubicBezTo>
                  <a:pt x="319683" y="280868"/>
                  <a:pt x="327779" y="276820"/>
                  <a:pt x="333732" y="271105"/>
                </a:cubicBezTo>
                <a:cubicBezTo>
                  <a:pt x="338852" y="266105"/>
                  <a:pt x="342900" y="259199"/>
                  <a:pt x="342900" y="247769"/>
                </a:cubicBezTo>
                <a:cubicBezTo>
                  <a:pt x="342900" y="226695"/>
                  <a:pt x="325874" y="209669"/>
                  <a:pt x="304800" y="209669"/>
                </a:cubicBezTo>
                <a:close/>
                <a:moveTo>
                  <a:pt x="266700" y="438150"/>
                </a:moveTo>
                <a:cubicBezTo>
                  <a:pt x="266700" y="417122"/>
                  <a:pt x="283772" y="400050"/>
                  <a:pt x="304800" y="400050"/>
                </a:cubicBezTo>
                <a:cubicBezTo>
                  <a:pt x="325828" y="400050"/>
                  <a:pt x="342900" y="417122"/>
                  <a:pt x="342900" y="438150"/>
                </a:cubicBezTo>
                <a:cubicBezTo>
                  <a:pt x="342900" y="459178"/>
                  <a:pt x="325828" y="476250"/>
                  <a:pt x="304800" y="476250"/>
                </a:cubicBezTo>
                <a:cubicBezTo>
                  <a:pt x="283772" y="476250"/>
                  <a:pt x="266700" y="459178"/>
                  <a:pt x="266700" y="438150"/>
                </a:cubicBezTo>
                <a:close/>
              </a:path>
            </a:pathLst>
          </a:custGeom>
          <a:solidFill>
            <a:srgbClr val="7BC6BE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6000" y="3365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核心命题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239500" y="4000500"/>
            <a:ext cx="3937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聚焦三个关键问题：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• 用户到底在抱怨什么？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• 在哪个环节流失最多？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• 如何针对性解决？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88888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02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 err="1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研究方法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0"/>
            <a:ext cx="4318000" cy="4826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4318000" cy="63500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7" name="Shape 5"/>
          <p:cNvSpPr/>
          <p:nvPr/>
        </p:nvSpPr>
        <p:spPr>
          <a:xfrm>
            <a:off x="2616200" y="254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8100" y="38100"/>
                </a:moveTo>
                <a:cubicBezTo>
                  <a:pt x="59174" y="38100"/>
                  <a:pt x="76200" y="55126"/>
                  <a:pt x="76200" y="76200"/>
                </a:cubicBezTo>
                <a:lnTo>
                  <a:pt x="76200" y="476250"/>
                </a:lnTo>
                <a:cubicBezTo>
                  <a:pt x="76200" y="486728"/>
                  <a:pt x="84773" y="495300"/>
                  <a:pt x="95250" y="495300"/>
                </a:cubicBezTo>
                <a:lnTo>
                  <a:pt x="571500" y="495300"/>
                </a:lnTo>
                <a:cubicBezTo>
                  <a:pt x="592574" y="495300"/>
                  <a:pt x="609600" y="512326"/>
                  <a:pt x="609600" y="533400"/>
                </a:cubicBezTo>
                <a:cubicBezTo>
                  <a:pt x="609600" y="554474"/>
                  <a:pt x="592574" y="571500"/>
                  <a:pt x="571500" y="571500"/>
                </a:cubicBezTo>
                <a:lnTo>
                  <a:pt x="95250" y="571500"/>
                </a:lnTo>
                <a:cubicBezTo>
                  <a:pt x="42624" y="571500"/>
                  <a:pt x="0" y="528876"/>
                  <a:pt x="0" y="476250"/>
                </a:cubicBezTo>
                <a:lnTo>
                  <a:pt x="0" y="76200"/>
                </a:lnTo>
                <a:cubicBezTo>
                  <a:pt x="0" y="55126"/>
                  <a:pt x="17026" y="38100"/>
                  <a:pt x="38100" y="38100"/>
                </a:cubicBezTo>
                <a:close/>
                <a:moveTo>
                  <a:pt x="152400" y="114300"/>
                </a:moveTo>
                <a:cubicBezTo>
                  <a:pt x="152400" y="93226"/>
                  <a:pt x="169426" y="76200"/>
                  <a:pt x="190500" y="76200"/>
                </a:cubicBezTo>
                <a:lnTo>
                  <a:pt x="419100" y="76200"/>
                </a:lnTo>
                <a:cubicBezTo>
                  <a:pt x="440174" y="76200"/>
                  <a:pt x="457200" y="93226"/>
                  <a:pt x="457200" y="114300"/>
                </a:cubicBezTo>
                <a:cubicBezTo>
                  <a:pt x="457200" y="135374"/>
                  <a:pt x="440174" y="152400"/>
                  <a:pt x="419100" y="152400"/>
                </a:cubicBezTo>
                <a:lnTo>
                  <a:pt x="190500" y="152400"/>
                </a:lnTo>
                <a:cubicBezTo>
                  <a:pt x="169426" y="152400"/>
                  <a:pt x="152400" y="135374"/>
                  <a:pt x="152400" y="114300"/>
                </a:cubicBezTo>
                <a:close/>
                <a:moveTo>
                  <a:pt x="190500" y="209550"/>
                </a:moveTo>
                <a:lnTo>
                  <a:pt x="342900" y="209550"/>
                </a:lnTo>
                <a:cubicBezTo>
                  <a:pt x="363974" y="209550"/>
                  <a:pt x="381000" y="226576"/>
                  <a:pt x="381000" y="247650"/>
                </a:cubicBezTo>
                <a:cubicBezTo>
                  <a:pt x="381000" y="268724"/>
                  <a:pt x="363974" y="285750"/>
                  <a:pt x="342900" y="285750"/>
                </a:cubicBezTo>
                <a:lnTo>
                  <a:pt x="190500" y="285750"/>
                </a:lnTo>
                <a:cubicBezTo>
                  <a:pt x="169426" y="285750"/>
                  <a:pt x="152400" y="268724"/>
                  <a:pt x="152400" y="247650"/>
                </a:cubicBezTo>
                <a:cubicBezTo>
                  <a:pt x="152400" y="226576"/>
                  <a:pt x="169426" y="209550"/>
                  <a:pt x="190500" y="209550"/>
                </a:cubicBezTo>
                <a:close/>
                <a:moveTo>
                  <a:pt x="190500" y="342900"/>
                </a:moveTo>
                <a:lnTo>
                  <a:pt x="495300" y="342900"/>
                </a:lnTo>
                <a:cubicBezTo>
                  <a:pt x="516374" y="342900"/>
                  <a:pt x="533400" y="359926"/>
                  <a:pt x="533400" y="381000"/>
                </a:cubicBezTo>
                <a:cubicBezTo>
                  <a:pt x="533400" y="402074"/>
                  <a:pt x="516374" y="419100"/>
                  <a:pt x="495300" y="419100"/>
                </a:cubicBezTo>
                <a:lnTo>
                  <a:pt x="190500" y="419100"/>
                </a:lnTo>
                <a:cubicBezTo>
                  <a:pt x="169426" y="419100"/>
                  <a:pt x="152400" y="402074"/>
                  <a:pt x="152400" y="381000"/>
                </a:cubicBezTo>
                <a:cubicBezTo>
                  <a:pt x="152400" y="359926"/>
                  <a:pt x="169426" y="342900"/>
                  <a:pt x="190500" y="342900"/>
                </a:cubicBezTo>
                <a:close/>
              </a:path>
            </a:pathLst>
          </a:custGeom>
          <a:solidFill>
            <a:srgbClr val="0868A6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4036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zh-CN" altLang="en-US" sz="2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数据来源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9500" y="4038600"/>
            <a:ext cx="3683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数据来源：小红书公开帖子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搜索关键词：合同踩坑、装修增项、装修报价坑、设计师避坑、装修延期、材料避坑等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内容类型：图文、视频、评论截图、点点解析结果</a:t>
            </a:r>
          </a:p>
        </p:txBody>
      </p:sp>
      <p:sp>
        <p:nvSpPr>
          <p:cNvPr id="10" name="Shape 8"/>
          <p:cNvSpPr/>
          <p:nvPr/>
        </p:nvSpPr>
        <p:spPr>
          <a:xfrm>
            <a:off x="5969000" y="2032000"/>
            <a:ext cx="4318000" cy="4826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5969000" y="2032000"/>
            <a:ext cx="4318000" cy="63500"/>
          </a:xfrm>
          <a:prstGeom prst="rect">
            <a:avLst/>
          </a:prstGeom>
          <a:solidFill>
            <a:srgbClr val="439CC4"/>
          </a:solidFill>
          <a:ln/>
        </p:spPr>
      </p:sp>
      <p:sp>
        <p:nvSpPr>
          <p:cNvPr id="12" name="Shape 10"/>
          <p:cNvSpPr/>
          <p:nvPr/>
        </p:nvSpPr>
        <p:spPr>
          <a:xfrm>
            <a:off x="7823200" y="254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06400" y="171450"/>
                </a:moveTo>
                <a:cubicBezTo>
                  <a:pt x="406400" y="287179"/>
                  <a:pt x="315383" y="381000"/>
                  <a:pt x="203200" y="381000"/>
                </a:cubicBezTo>
                <a:cubicBezTo>
                  <a:pt x="174943" y="381000"/>
                  <a:pt x="148061" y="375047"/>
                  <a:pt x="123613" y="364331"/>
                </a:cubicBezTo>
                <a:lnTo>
                  <a:pt x="37253" y="415766"/>
                </a:lnTo>
                <a:cubicBezTo>
                  <a:pt x="27411" y="421600"/>
                  <a:pt x="15346" y="419576"/>
                  <a:pt x="7408" y="410766"/>
                </a:cubicBezTo>
                <a:cubicBezTo>
                  <a:pt x="-529" y="401955"/>
                  <a:pt x="-2328" y="388263"/>
                  <a:pt x="2963" y="377190"/>
                </a:cubicBezTo>
                <a:lnTo>
                  <a:pt x="40640" y="297180"/>
                </a:lnTo>
                <a:cubicBezTo>
                  <a:pt x="15134" y="262176"/>
                  <a:pt x="0" y="218599"/>
                  <a:pt x="0" y="171450"/>
                </a:cubicBezTo>
                <a:cubicBezTo>
                  <a:pt x="0" y="55721"/>
                  <a:pt x="91017" y="-38100"/>
                  <a:pt x="203200" y="-38100"/>
                </a:cubicBezTo>
                <a:cubicBezTo>
                  <a:pt x="315383" y="-38100"/>
                  <a:pt x="406400" y="55721"/>
                  <a:pt x="406400" y="171450"/>
                </a:cubicBezTo>
                <a:close/>
                <a:moveTo>
                  <a:pt x="406400" y="609600"/>
                </a:moveTo>
                <a:cubicBezTo>
                  <a:pt x="306811" y="609600"/>
                  <a:pt x="223943" y="535662"/>
                  <a:pt x="206587" y="438150"/>
                </a:cubicBezTo>
                <a:cubicBezTo>
                  <a:pt x="333587" y="436364"/>
                  <a:pt x="443971" y="334685"/>
                  <a:pt x="456142" y="196810"/>
                </a:cubicBezTo>
                <a:cubicBezTo>
                  <a:pt x="544301" y="219670"/>
                  <a:pt x="609600" y="301943"/>
                  <a:pt x="609600" y="400050"/>
                </a:cubicBezTo>
                <a:cubicBezTo>
                  <a:pt x="609600" y="447199"/>
                  <a:pt x="594466" y="490776"/>
                  <a:pt x="568960" y="525780"/>
                </a:cubicBezTo>
                <a:lnTo>
                  <a:pt x="606637" y="605790"/>
                </a:lnTo>
                <a:cubicBezTo>
                  <a:pt x="611823" y="616863"/>
                  <a:pt x="610023" y="630436"/>
                  <a:pt x="602192" y="639366"/>
                </a:cubicBezTo>
                <a:cubicBezTo>
                  <a:pt x="594360" y="648295"/>
                  <a:pt x="582189" y="650319"/>
                  <a:pt x="572347" y="644366"/>
                </a:cubicBezTo>
                <a:lnTo>
                  <a:pt x="485987" y="592931"/>
                </a:lnTo>
                <a:cubicBezTo>
                  <a:pt x="461539" y="603647"/>
                  <a:pt x="434658" y="609600"/>
                  <a:pt x="406400" y="609600"/>
                </a:cubicBezTo>
                <a:close/>
              </a:path>
            </a:pathLst>
          </a:custGeom>
          <a:solidFill>
            <a:srgbClr val="439CC4"/>
          </a:solidFill>
          <a:ln/>
        </p:spPr>
      </p:sp>
      <p:sp>
        <p:nvSpPr>
          <p:cNvPr id="13" name="Text 11"/>
          <p:cNvSpPr/>
          <p:nvPr/>
        </p:nvSpPr>
        <p:spPr>
          <a:xfrm>
            <a:off x="6223000" y="34036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zh-CN" altLang="en-US" sz="2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数据处理</a:t>
            </a:r>
            <a:endParaRPr lang="en-US" altLang="zh-CN" sz="2200" b="1" dirty="0">
              <a:solidFill>
                <a:srgbClr val="2C3E50"/>
              </a:solidFill>
              <a:latin typeface="黑体" panose="02010609060101010101" pitchFamily="49" charset="-122"/>
              <a:ea typeface="黑体" panose="02010609060101010101" pitchFamily="49" charset="-122"/>
              <a:cs typeface="Liter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86500" y="4038600"/>
            <a:ext cx="3683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AI</a:t>
            </a: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辅助解析帖子内容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OCR</a:t>
            </a: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识别截图文字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人工复核字段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去重后形成有效样本 </a:t>
            </a:r>
            <a:r>
              <a:rPr lang="en-US" altLang="zh-CN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N=155</a:t>
            </a:r>
          </a:p>
        </p:txBody>
      </p:sp>
      <p:sp>
        <p:nvSpPr>
          <p:cNvPr id="15" name="Shape 13"/>
          <p:cNvSpPr/>
          <p:nvPr/>
        </p:nvSpPr>
        <p:spPr>
          <a:xfrm>
            <a:off x="11176000" y="2032000"/>
            <a:ext cx="4318000" cy="4826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76000" y="2032000"/>
            <a:ext cx="4318000" cy="63500"/>
          </a:xfrm>
          <a:prstGeom prst="rect">
            <a:avLst/>
          </a:prstGeom>
          <a:solidFill>
            <a:srgbClr val="7BC6BE"/>
          </a:solidFill>
          <a:ln/>
        </p:spPr>
      </p:sp>
      <p:sp>
        <p:nvSpPr>
          <p:cNvPr id="17" name="Shape 15"/>
          <p:cNvSpPr/>
          <p:nvPr/>
        </p:nvSpPr>
        <p:spPr>
          <a:xfrm>
            <a:off x="13030200" y="254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35280" y="0"/>
                </a:moveTo>
                <a:cubicBezTo>
                  <a:pt x="335280" y="-21074"/>
                  <a:pt x="321659" y="-38100"/>
                  <a:pt x="304800" y="-38100"/>
                </a:cubicBezTo>
                <a:cubicBezTo>
                  <a:pt x="287941" y="-38100"/>
                  <a:pt x="274320" y="-21074"/>
                  <a:pt x="274320" y="0"/>
                </a:cubicBezTo>
                <a:lnTo>
                  <a:pt x="274320" y="76200"/>
                </a:lnTo>
                <a:lnTo>
                  <a:pt x="182880" y="76200"/>
                </a:lnTo>
                <a:cubicBezTo>
                  <a:pt x="132398" y="76200"/>
                  <a:pt x="91440" y="127397"/>
                  <a:pt x="91440" y="190500"/>
                </a:cubicBezTo>
                <a:lnTo>
                  <a:pt x="91440" y="457200"/>
                </a:lnTo>
                <a:cubicBezTo>
                  <a:pt x="91440" y="520303"/>
                  <a:pt x="132398" y="571500"/>
                  <a:pt x="182880" y="571500"/>
                </a:cubicBezTo>
                <a:lnTo>
                  <a:pt x="426720" y="571500"/>
                </a:lnTo>
                <a:cubicBezTo>
                  <a:pt x="477203" y="571500"/>
                  <a:pt x="518160" y="520303"/>
                  <a:pt x="518160" y="457200"/>
                </a:cubicBezTo>
                <a:lnTo>
                  <a:pt x="518160" y="190500"/>
                </a:lnTo>
                <a:cubicBezTo>
                  <a:pt x="518160" y="127397"/>
                  <a:pt x="477203" y="76200"/>
                  <a:pt x="426720" y="76200"/>
                </a:cubicBezTo>
                <a:lnTo>
                  <a:pt x="335280" y="76200"/>
                </a:lnTo>
                <a:lnTo>
                  <a:pt x="335280" y="0"/>
                </a:lnTo>
                <a:close/>
                <a:moveTo>
                  <a:pt x="152400" y="438150"/>
                </a:moveTo>
                <a:cubicBezTo>
                  <a:pt x="152400" y="422315"/>
                  <a:pt x="162592" y="409575"/>
                  <a:pt x="175260" y="409575"/>
                </a:cubicBezTo>
                <a:lnTo>
                  <a:pt x="205740" y="409575"/>
                </a:lnTo>
                <a:cubicBezTo>
                  <a:pt x="218408" y="409575"/>
                  <a:pt x="228600" y="422315"/>
                  <a:pt x="228600" y="438150"/>
                </a:cubicBezTo>
                <a:cubicBezTo>
                  <a:pt x="228600" y="453985"/>
                  <a:pt x="218408" y="466725"/>
                  <a:pt x="205740" y="466725"/>
                </a:cubicBezTo>
                <a:lnTo>
                  <a:pt x="175260" y="466725"/>
                </a:lnTo>
                <a:cubicBezTo>
                  <a:pt x="162592" y="466725"/>
                  <a:pt x="152400" y="453985"/>
                  <a:pt x="152400" y="438150"/>
                </a:cubicBezTo>
                <a:close/>
                <a:moveTo>
                  <a:pt x="266700" y="438150"/>
                </a:moveTo>
                <a:cubicBezTo>
                  <a:pt x="266700" y="422315"/>
                  <a:pt x="276892" y="409575"/>
                  <a:pt x="289560" y="409575"/>
                </a:cubicBezTo>
                <a:lnTo>
                  <a:pt x="320040" y="409575"/>
                </a:lnTo>
                <a:cubicBezTo>
                  <a:pt x="332708" y="409575"/>
                  <a:pt x="342900" y="422315"/>
                  <a:pt x="342900" y="438150"/>
                </a:cubicBezTo>
                <a:cubicBezTo>
                  <a:pt x="342900" y="453985"/>
                  <a:pt x="332708" y="466725"/>
                  <a:pt x="320040" y="466725"/>
                </a:cubicBezTo>
                <a:lnTo>
                  <a:pt x="289560" y="466725"/>
                </a:lnTo>
                <a:cubicBezTo>
                  <a:pt x="276892" y="466725"/>
                  <a:pt x="266700" y="453985"/>
                  <a:pt x="266700" y="438150"/>
                </a:cubicBezTo>
                <a:close/>
                <a:moveTo>
                  <a:pt x="381000" y="438150"/>
                </a:moveTo>
                <a:cubicBezTo>
                  <a:pt x="381000" y="422315"/>
                  <a:pt x="391192" y="409575"/>
                  <a:pt x="403860" y="409575"/>
                </a:cubicBezTo>
                <a:lnTo>
                  <a:pt x="434340" y="409575"/>
                </a:lnTo>
                <a:cubicBezTo>
                  <a:pt x="447008" y="409575"/>
                  <a:pt x="457200" y="422315"/>
                  <a:pt x="457200" y="438150"/>
                </a:cubicBezTo>
                <a:cubicBezTo>
                  <a:pt x="457200" y="453985"/>
                  <a:pt x="447008" y="466725"/>
                  <a:pt x="434340" y="466725"/>
                </a:cubicBezTo>
                <a:lnTo>
                  <a:pt x="403860" y="466725"/>
                </a:lnTo>
                <a:cubicBezTo>
                  <a:pt x="391192" y="466725"/>
                  <a:pt x="381000" y="453985"/>
                  <a:pt x="381000" y="438150"/>
                </a:cubicBezTo>
                <a:close/>
                <a:moveTo>
                  <a:pt x="213360" y="209550"/>
                </a:moveTo>
                <a:cubicBezTo>
                  <a:pt x="238594" y="209550"/>
                  <a:pt x="259080" y="235158"/>
                  <a:pt x="259080" y="266700"/>
                </a:cubicBezTo>
                <a:cubicBezTo>
                  <a:pt x="259080" y="298242"/>
                  <a:pt x="238594" y="323850"/>
                  <a:pt x="213360" y="323850"/>
                </a:cubicBezTo>
                <a:cubicBezTo>
                  <a:pt x="188126" y="323850"/>
                  <a:pt x="167640" y="298242"/>
                  <a:pt x="167640" y="266700"/>
                </a:cubicBezTo>
                <a:cubicBezTo>
                  <a:pt x="167640" y="235158"/>
                  <a:pt x="188126" y="209550"/>
                  <a:pt x="213360" y="209550"/>
                </a:cubicBezTo>
                <a:close/>
                <a:moveTo>
                  <a:pt x="350520" y="266700"/>
                </a:moveTo>
                <a:cubicBezTo>
                  <a:pt x="350520" y="235158"/>
                  <a:pt x="371006" y="209550"/>
                  <a:pt x="396240" y="209550"/>
                </a:cubicBezTo>
                <a:cubicBezTo>
                  <a:pt x="421474" y="209550"/>
                  <a:pt x="441960" y="235158"/>
                  <a:pt x="441960" y="266700"/>
                </a:cubicBezTo>
                <a:cubicBezTo>
                  <a:pt x="441960" y="298242"/>
                  <a:pt x="421474" y="323850"/>
                  <a:pt x="396240" y="323850"/>
                </a:cubicBezTo>
                <a:cubicBezTo>
                  <a:pt x="371006" y="323850"/>
                  <a:pt x="350520" y="298242"/>
                  <a:pt x="350520" y="266700"/>
                </a:cubicBezTo>
                <a:close/>
                <a:moveTo>
                  <a:pt x="60960" y="266700"/>
                </a:moveTo>
                <a:cubicBezTo>
                  <a:pt x="60960" y="245626"/>
                  <a:pt x="47339" y="228600"/>
                  <a:pt x="30480" y="228600"/>
                </a:cubicBezTo>
                <a:cubicBezTo>
                  <a:pt x="13621" y="228600"/>
                  <a:pt x="0" y="245626"/>
                  <a:pt x="0" y="266700"/>
                </a:cubicBezTo>
                <a:lnTo>
                  <a:pt x="0" y="381000"/>
                </a:lnTo>
                <a:cubicBezTo>
                  <a:pt x="0" y="402074"/>
                  <a:pt x="13621" y="419100"/>
                  <a:pt x="30480" y="419100"/>
                </a:cubicBezTo>
                <a:cubicBezTo>
                  <a:pt x="47339" y="419100"/>
                  <a:pt x="60960" y="402074"/>
                  <a:pt x="60960" y="381000"/>
                </a:cubicBezTo>
                <a:lnTo>
                  <a:pt x="60960" y="266700"/>
                </a:lnTo>
                <a:close/>
                <a:moveTo>
                  <a:pt x="579120" y="228600"/>
                </a:moveTo>
                <a:cubicBezTo>
                  <a:pt x="562261" y="228600"/>
                  <a:pt x="548640" y="245626"/>
                  <a:pt x="548640" y="266700"/>
                </a:cubicBezTo>
                <a:lnTo>
                  <a:pt x="548640" y="381000"/>
                </a:lnTo>
                <a:cubicBezTo>
                  <a:pt x="548640" y="402074"/>
                  <a:pt x="562261" y="419100"/>
                  <a:pt x="579120" y="419100"/>
                </a:cubicBezTo>
                <a:cubicBezTo>
                  <a:pt x="595979" y="419100"/>
                  <a:pt x="609600" y="402074"/>
                  <a:pt x="609600" y="381000"/>
                </a:cubicBezTo>
                <a:lnTo>
                  <a:pt x="609600" y="266700"/>
                </a:lnTo>
                <a:cubicBezTo>
                  <a:pt x="609600" y="245626"/>
                  <a:pt x="595979" y="228600"/>
                  <a:pt x="579120" y="228600"/>
                </a:cubicBezTo>
                <a:close/>
              </a:path>
            </a:pathLst>
          </a:custGeom>
          <a:solidFill>
            <a:srgbClr val="7BC6B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0" y="34036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zh-CN" altLang="en-US" sz="2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分析方法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93500" y="4038600"/>
            <a:ext cx="3683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痛点频次分析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装修阶段分布分析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关键词 </a:t>
            </a:r>
            <a:r>
              <a:rPr lang="en-US" altLang="zh-CN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× </a:t>
            </a: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痛点交叉分析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严重程度与风险场景解读</a:t>
            </a:r>
          </a:p>
        </p:txBody>
      </p:sp>
      <p:sp>
        <p:nvSpPr>
          <p:cNvPr id="20" name="Shape 18"/>
          <p:cNvSpPr/>
          <p:nvPr/>
        </p:nvSpPr>
        <p:spPr>
          <a:xfrm>
            <a:off x="4953000" y="7366000"/>
            <a:ext cx="6350000" cy="6350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0868A6"/>
              </a:gs>
              <a:gs pos="100000">
                <a:srgbClr val="7BC6BE"/>
              </a:gs>
            </a:gsLst>
            <a:lin ang="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4953000" y="736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社媒内容分析直击真实痛点，</a:t>
            </a:r>
            <a:r>
              <a:rPr lang="en-US" altLang="zh-CN" sz="20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AI</a:t>
            </a:r>
            <a:r>
              <a:rPr lang="zh-CN" altLang="en-US" sz="20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工具赋能数据分析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88888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03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样本处理流程：从原始数据到高价值洞察的四层提纯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557851"/>
            <a:ext cx="3175000" cy="4445000"/>
          </a:xfrm>
          <a:prstGeom prst="roundRect">
            <a:avLst>
              <a:gd name="adj" fmla="val 5000"/>
            </a:avLst>
          </a:prstGeom>
          <a:solidFill>
            <a:srgbClr val="B4DEB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748351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01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500" y="3510351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数据采集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500" y="4081851"/>
            <a:ext cx="279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按关键词搜索小红书公开内容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选取高互动</a:t>
            </a:r>
            <a:r>
              <a:rPr lang="en-US" altLang="zh-CN" sz="1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/</a:t>
            </a:r>
            <a:r>
              <a:rPr lang="zh-CN" altLang="en-US" sz="1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高相关帖子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截取正文、视频信息、评论区信息</a:t>
            </a:r>
          </a:p>
        </p:txBody>
      </p:sp>
      <p:sp>
        <p:nvSpPr>
          <p:cNvPr id="9" name="Shape 7"/>
          <p:cNvSpPr/>
          <p:nvPr/>
        </p:nvSpPr>
        <p:spPr>
          <a:xfrm>
            <a:off x="4064000" y="4589851"/>
            <a:ext cx="508000" cy="0"/>
          </a:xfrm>
          <a:prstGeom prst="straightConnector1">
            <a:avLst/>
          </a:prstGeom>
          <a:noFill/>
          <a:ln w="25400">
            <a:solidFill>
              <a:srgbClr val="7BC6BE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699000" y="2557851"/>
            <a:ext cx="3175000" cy="4445000"/>
          </a:xfrm>
          <a:prstGeom prst="roundRect">
            <a:avLst>
              <a:gd name="adj" fmla="val 5000"/>
            </a:avLst>
          </a:prstGeom>
          <a:solidFill>
            <a:srgbClr val="7BC6BE"/>
          </a:solidFill>
          <a:ln/>
        </p:spPr>
      </p:sp>
      <p:sp>
        <p:nvSpPr>
          <p:cNvPr id="11" name="Text 9"/>
          <p:cNvSpPr/>
          <p:nvPr/>
        </p:nvSpPr>
        <p:spPr>
          <a:xfrm>
            <a:off x="4699000" y="2748351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02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89500" y="3510351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数据清洗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89500" y="4081851"/>
            <a:ext cx="279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使用点点 </a:t>
            </a:r>
            <a:r>
              <a:rPr lang="en-US" altLang="zh-CN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AI </a:t>
            </a: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辅助总结图文</a:t>
            </a:r>
            <a:r>
              <a:rPr lang="en-US" altLang="zh-CN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/</a:t>
            </a: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视频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OCR</a:t>
            </a: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识别截图文字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提取内容摘要和关键证据</a:t>
            </a:r>
          </a:p>
        </p:txBody>
      </p:sp>
      <p:sp>
        <p:nvSpPr>
          <p:cNvPr id="14" name="Shape 12"/>
          <p:cNvSpPr/>
          <p:nvPr/>
        </p:nvSpPr>
        <p:spPr>
          <a:xfrm>
            <a:off x="8001000" y="4589851"/>
            <a:ext cx="508000" cy="0"/>
          </a:xfrm>
          <a:prstGeom prst="straightConnector1">
            <a:avLst/>
          </a:prstGeom>
          <a:noFill/>
          <a:ln w="25400">
            <a:solidFill>
              <a:srgbClr val="439CC4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636000" y="2557851"/>
            <a:ext cx="3175000" cy="4445000"/>
          </a:xfrm>
          <a:prstGeom prst="roundRect">
            <a:avLst>
              <a:gd name="adj" fmla="val 5000"/>
            </a:avLst>
          </a:prstGeom>
          <a:solidFill>
            <a:srgbClr val="439CC4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2748351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03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826500" y="3510351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zh-CN" altLang="en-US" sz="2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字段标准化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26500" y="4081851"/>
            <a:ext cx="279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统一装修阶段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统一痛点类型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提取责任方、金额</a:t>
            </a:r>
            <a:r>
              <a:rPr lang="en-US" altLang="zh-CN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/</a:t>
            </a: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时间信息、严重程度</a:t>
            </a:r>
          </a:p>
        </p:txBody>
      </p:sp>
      <p:sp>
        <p:nvSpPr>
          <p:cNvPr id="19" name="Shape 17"/>
          <p:cNvSpPr/>
          <p:nvPr/>
        </p:nvSpPr>
        <p:spPr>
          <a:xfrm>
            <a:off x="11938000" y="4589851"/>
            <a:ext cx="508000" cy="0"/>
          </a:xfrm>
          <a:prstGeom prst="straightConnector1">
            <a:avLst/>
          </a:prstGeom>
          <a:noFill/>
          <a:ln w="25400">
            <a:solidFill>
              <a:srgbClr val="0868A6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573000" y="2557851"/>
            <a:ext cx="2921000" cy="4445000"/>
          </a:xfrm>
          <a:prstGeom prst="roundRect">
            <a:avLst>
              <a:gd name="adj" fmla="val 5000"/>
            </a:avLst>
          </a:prstGeom>
          <a:solidFill>
            <a:srgbClr val="0868A6"/>
          </a:solidFill>
          <a:ln/>
        </p:spPr>
      </p:sp>
      <p:sp>
        <p:nvSpPr>
          <p:cNvPr id="21" name="Text 19"/>
          <p:cNvSpPr/>
          <p:nvPr/>
        </p:nvSpPr>
        <p:spPr>
          <a:xfrm>
            <a:off x="12573000" y="2748351"/>
            <a:ext cx="292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04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700000" y="3510351"/>
            <a:ext cx="266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zh-CN" altLang="en-US" sz="2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去重与复核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700000" y="4081851"/>
            <a:ext cx="266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剔除无效样本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合并重复内容</a:t>
            </a:r>
          </a:p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最终形成 </a:t>
            </a:r>
            <a:r>
              <a:rPr lang="en-US" altLang="zh-CN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155 </a:t>
            </a:r>
            <a:r>
              <a:rPr lang="zh-CN" altLang="en-US" sz="1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条有效样本</a:t>
            </a:r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88888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04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 err="1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核心发现一</a:t>
            </a:r>
            <a:r>
              <a:rPr lang="en-US" sz="2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：</a:t>
            </a:r>
            <a:r>
              <a:rPr lang="zh-CN" altLang="en-US" sz="2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用户核心痛点集中在“费用、责任、交付”的不确定性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Shape 3"/>
          <p:cNvSpPr/>
          <p:nvPr/>
        </p:nvSpPr>
        <p:spPr>
          <a:xfrm>
            <a:off x="9906000" y="1778000"/>
            <a:ext cx="5588000" cy="2540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9529803" y="2500125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b="1" dirty="0" err="1">
                <a:solidFill>
                  <a:srgbClr val="0868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核心结论</a:t>
            </a:r>
            <a:r>
              <a:rPr lang="zh-CN" altLang="en-US" sz="2200" b="1" dirty="0">
                <a:solidFill>
                  <a:srgbClr val="0868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：家装用户真正缺的不是信息，而是确定性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9755965" y="3071624"/>
            <a:ext cx="5080000" cy="3839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合同不清晰、报价不透明、恶意增项共同构成前期信任风险。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施工质量差、验收困难、售后维权难构成后期交付风险。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用户不是单纯抱怨装修复杂，而是缺少可判断、可追责、可验证的机制。</a:t>
            </a:r>
          </a:p>
        </p:txBody>
      </p:sp>
      <p:sp>
        <p:nvSpPr>
          <p:cNvPr id="19" name="Text 16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88888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05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0041EC1-1BC9-3120-0A66-C5F09CBD5CF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8562" y="2045978"/>
            <a:ext cx="10098182" cy="590989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 err="1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核心发现二</a:t>
            </a:r>
            <a:r>
              <a:rPr lang="en-US" sz="2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：</a:t>
            </a:r>
            <a:r>
              <a:rPr lang="zh-CN" altLang="en-US" sz="2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风险在报价和合同阶段前置，在施工和售后阶段放大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6680200" y="1905000"/>
            <a:ext cx="29464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购买 ⚠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45400" y="342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42%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9071" y="6879972"/>
            <a:ext cx="14732000" cy="20320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99071" y="6879972"/>
            <a:ext cx="63500" cy="2032000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30" name="Text 28"/>
          <p:cNvSpPr/>
          <p:nvPr/>
        </p:nvSpPr>
        <p:spPr>
          <a:xfrm>
            <a:off x="1180071" y="6602642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b="1" dirty="0">
                <a:solidFill>
                  <a:srgbClr val="0868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阶段洞察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80071" y="7110642"/>
            <a:ext cx="1397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报价预算、合同签约是风险种子区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施工过程是风险爆发区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售后维权是风险放大区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很多后期纠纷，本质来自前期没有说清、写清、留痕</a:t>
            </a:r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88888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06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1D645D1F-DCCD-1336-20FF-3E11A62137C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6304" y="1399661"/>
            <a:ext cx="14967125" cy="537667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 err="1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核心发现</a:t>
            </a:r>
            <a:r>
              <a:rPr lang="zh-CN" altLang="en-US" sz="2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三</a:t>
            </a:r>
            <a:r>
              <a:rPr lang="en-US" sz="2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：</a:t>
            </a:r>
            <a:r>
              <a:rPr lang="zh-CN" altLang="en-US" sz="2800" dirty="0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搜索关键词不是简单词语，而是用户风险意图入口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6680200" y="1905000"/>
            <a:ext cx="29464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购买 ⚠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45400" y="342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42%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88888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06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39FB7BD-42B0-38F2-A5B1-DD39EE4C9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76776"/>
              </p:ext>
            </p:extLst>
          </p:nvPr>
        </p:nvGraphicFramePr>
        <p:xfrm>
          <a:off x="10849232" y="3395017"/>
          <a:ext cx="5152767" cy="323301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360121">
                  <a:extLst>
                    <a:ext uri="{9D8B030D-6E8A-4147-A177-3AD203B41FA5}">
                      <a16:colId xmlns:a16="http://schemas.microsoft.com/office/drawing/2014/main" val="196633137"/>
                    </a:ext>
                  </a:extLst>
                </a:gridCol>
                <a:gridCol w="3792646">
                  <a:extLst>
                    <a:ext uri="{9D8B030D-6E8A-4147-A177-3AD203B41FA5}">
                      <a16:colId xmlns:a16="http://schemas.microsoft.com/office/drawing/2014/main" val="3356773398"/>
                    </a:ext>
                  </a:extLst>
                </a:gridCol>
              </a:tblGrid>
              <a:tr h="5388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搜索关键词</a:t>
                      </a:r>
                      <a:endParaRPr lang="zh-CN" sz="16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5EB0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背后风险意图</a:t>
                      </a:r>
                      <a:endParaRPr lang="zh-CN" sz="16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5EB0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322882"/>
                  </a:ext>
                </a:extLst>
              </a:tr>
              <a:tr h="5388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合同踩坑</a:t>
                      </a:r>
                      <a:endParaRPr lang="zh-CN" sz="16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5EB0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担心责任、付款、工期、售后没写清</a:t>
                      </a:r>
                      <a:endParaRPr lang="zh-CN" sz="16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7487056"/>
                  </a:ext>
                </a:extLst>
              </a:tr>
              <a:tr h="5388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装修报价坑</a:t>
                      </a:r>
                      <a:endParaRPr lang="zh-CN" sz="16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5EB0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担心报价不透明、后期增项</a:t>
                      </a:r>
                      <a:endParaRPr lang="zh-CN" sz="16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2692435"/>
                  </a:ext>
                </a:extLst>
              </a:tr>
              <a:tr h="5388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装修增项</a:t>
                      </a:r>
                      <a:endParaRPr lang="zh-CN" sz="16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5EB0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担心预算失控</a:t>
                      </a:r>
                      <a:endParaRPr lang="zh-CN" sz="16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8869043"/>
                  </a:ext>
                </a:extLst>
              </a:tr>
              <a:tr h="5388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设计师避坑</a:t>
                      </a:r>
                      <a:endParaRPr lang="zh-CN" sz="16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5EB0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担心设计落差和沟通成本</a:t>
                      </a:r>
                      <a:endParaRPr lang="zh-CN" sz="16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5689633"/>
                  </a:ext>
                </a:extLst>
              </a:tr>
              <a:tr h="5388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材料避坑</a:t>
                      </a:r>
                      <a:endParaRPr lang="zh-CN" sz="16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5EB0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担心材料不透明、以次充好</a:t>
                      </a:r>
                      <a:endParaRPr lang="zh-CN" sz="1600" kern="1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7189359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39CB6C8B-D830-13D8-7E56-21ED7BE3E25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163" y="1475452"/>
            <a:ext cx="11285098" cy="753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4697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 err="1">
                <a:solidFill>
                  <a:srgbClr val="2C3E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研究结论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14732000" cy="8890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63500" cy="889000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1600200"/>
            <a:ext cx="14097000" cy="14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 err="1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战略层结论</a:t>
            </a:r>
            <a:r>
              <a:rPr lang="en-US" sz="2000" b="1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000" b="1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家装用户的核心矛盾，正在从“缺少装修信息”转向“缺少交易确定性”。</a:t>
            </a:r>
            <a:endParaRPr lang="en-US" altLang="zh-CN" sz="2000" b="1" dirty="0">
              <a:solidFill>
                <a:srgbClr val="55555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60000"/>
              </a:lnSpc>
            </a:pPr>
            <a:r>
              <a:rPr lang="zh-CN" alt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用户并不是没有装修攻略、案例和避坑内容，真正的问题是：报价是否透明、合同是否清晰、责任是否可追溯、施工是否可控、售后是否能兑现</a:t>
            </a:r>
            <a:r>
              <a:rPr lang="en-US" sz="20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。</a:t>
            </a:r>
            <a:endParaRPr 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2000" y="3410095"/>
            <a:ext cx="4572000" cy="4318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3410095"/>
            <a:ext cx="4572000" cy="635000"/>
          </a:xfrm>
          <a:prstGeom prst="rect">
            <a:avLst/>
          </a:prstGeom>
          <a:solidFill>
            <a:srgbClr val="0868A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410095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用户核心焦虑是确定性缺失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4743595"/>
            <a:ext cx="406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zh-CN" altLang="en-US" sz="18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费用不确定、责任不清晰、交付不可控，是装修用户最集中的三类风险。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42000" y="3625700"/>
            <a:ext cx="4572000" cy="4318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842000" y="3388830"/>
            <a:ext cx="4572000" cy="635000"/>
          </a:xfrm>
          <a:prstGeom prst="rect">
            <a:avLst/>
          </a:prstGeom>
          <a:solidFill>
            <a:srgbClr val="439CC4"/>
          </a:solidFill>
          <a:ln/>
        </p:spPr>
      </p:sp>
      <p:sp>
        <p:nvSpPr>
          <p:cNvPr id="15" name="Text 13"/>
          <p:cNvSpPr/>
          <p:nvPr/>
        </p:nvSpPr>
        <p:spPr>
          <a:xfrm>
            <a:off x="5842000" y="3410095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痛点沿装修链路传导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0" y="4743595"/>
            <a:ext cx="406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zh-CN" altLang="en-US" sz="18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报价和合同阶段的问题，会在施工、验收和售后阶段被放大</a:t>
            </a:r>
            <a:r>
              <a:rPr lang="zh-CN" altLang="en-US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。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922000" y="3410095"/>
            <a:ext cx="4572000" cy="4318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2000" y="3388830"/>
            <a:ext cx="4572000" cy="635000"/>
          </a:xfrm>
          <a:prstGeom prst="rect">
            <a:avLst/>
          </a:prstGeom>
          <a:solidFill>
            <a:srgbClr val="7BC6BE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3410095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搜索行为反映风险意识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176000" y="4743595"/>
            <a:ext cx="406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zh-CN" altLang="en-US" sz="1800" dirty="0">
                <a:solidFill>
                  <a:srgbClr val="555555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用户搜索“合同踩坑、报价坑、增项、设计师避坑”等关键词，本质是在寻找对应装修节点的避险答案。</a:t>
            </a:r>
            <a:endParaRPr 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2000" y="7620000"/>
            <a:ext cx="147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200" i="1" dirty="0">
                <a:solidFill>
                  <a:srgbClr val="0868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本研究将分散的社媒吐槽整理为结构化家装风险地图，可作为后续产品需求设计和功能优先级判断的输入。</a:t>
            </a:r>
            <a:endParaRPr 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88888"/>
                </a:solidFill>
                <a:latin typeface="黑体" panose="02010609060101010101" pitchFamily="49" charset="-122"/>
                <a:ea typeface="黑体" panose="02010609060101010101" pitchFamily="49" charset="-122"/>
                <a:cs typeface="Liter" pitchFamily="34" charset="-120"/>
              </a:rPr>
              <a:t>08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09709DA6329FB9CAB9B0BAE5C3F21927BA2B258ED363DD10A3CA824E2786CF56" val="[{&quot;GradientColorId&quot;:&quot;&quot;,&quot;IsFree&quot;:true,&quot;IsGradient&quot;:false,&quot;ImagePath&quot;:&quot;&quot;,&quot;GradientColor&quot;:null,&quot;SimpleColor&quot;:&quot;#808080&quot;}]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759</Words>
  <Application>Microsoft Office PowerPoint</Application>
  <PresentationFormat>自定义</PresentationFormat>
  <Paragraphs>110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黑体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用户洞察与痛点深度分析报告</dc:title>
  <dc:subject>用户洞察与痛点深度分析报告</dc:subject>
  <dc:creator>Kimi</dc:creator>
  <cp:lastModifiedBy>ge ji</cp:lastModifiedBy>
  <cp:revision>5</cp:revision>
  <dcterms:created xsi:type="dcterms:W3CDTF">2026-07-10T10:59:51Z</dcterms:created>
  <dcterms:modified xsi:type="dcterms:W3CDTF">2026-07-10T12:12:26Z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用户洞察与痛点深度分析报告","ContentProducer":"001191110108MACG2KBH8F10000","ProduceID":"19f4ba7a-c4d2-8a8b-8000-0000e7b1d222","ReservedCode1":"","ContentPropagator":"001191110108MACG2KBH8F20000","PropagateID":"19f4ba47-66d2-87b1-8000-09b84950bd0b","ReservedCode2":""}</vt:lpwstr>
  </property>
</Properties>
</file>